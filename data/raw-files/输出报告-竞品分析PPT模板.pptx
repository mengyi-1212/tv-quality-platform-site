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BDC7D8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A3D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6949440" cy="6583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竞品分析报告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61488"/>
            <a:ext cx="585216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700" b="0">
                <a:solidFill>
                  <a:srgbClr val="D9E1EF"/>
                </a:solidFill>
                <a:latin typeface="Microsoft YaHei"/>
              </a:defRPr>
            </a:pPr>
            <a:r>
              <a:t>{品牌型号A}  vs  {品牌型号B}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73552"/>
            <a:ext cx="6217920" cy="29260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300" b="0">
                <a:solidFill>
                  <a:srgbClr val="1797B1"/>
                </a:solidFill>
                <a:latin typeface="Microsoft YaHei"/>
              </a:defRPr>
            </a:pPr>
            <a:r>
              <a:t>客观数据 / 主观视效 / 问题点 / 调试建议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965960"/>
            <a:ext cx="3383280" cy="1691640"/>
          </a:xfrm>
          <a:prstGeom prst="roundRect">
            <a:avLst/>
          </a:prstGeom>
          <a:solidFill>
            <a:srgbClr val="1F2B44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965960"/>
            <a:ext cx="73152" cy="1691640"/>
          </a:xfrm>
          <a:prstGeom prst="rect">
            <a:avLst/>
          </a:prstGeom>
          <a:solidFill>
            <a:srgbClr val="179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2093976"/>
            <a:ext cx="309067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报告信息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2404872"/>
            <a:ext cx="3090672" cy="112471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项目：{项目名称}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日期：{YYYY.MM.DD}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负责人：{姓名}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版本：V1.0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72200"/>
            <a:ext cx="621792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B2BCCD"/>
                </a:solidFill>
                <a:latin typeface="Microsoft YaHei"/>
              </a:defRPr>
            </a:pPr>
            <a:r>
              <a:t>模板来源：桌面/报告 文件夹内竞品分析 PPT 的共性结构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报告结构分析与模板说明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竞品分析模板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4231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868680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53896"/>
            <a:ext cx="21305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已分析报告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64792"/>
            <a:ext cx="2130552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6 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92024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242C3A"/>
                </a:solidFill>
                <a:latin typeface="Microsoft YaHei"/>
              </a:defRPr>
            </a:pPr>
            <a:r>
              <a:t>6 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25880"/>
            <a:ext cx="24231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25880"/>
            <a:ext cx="73152" cy="868680"/>
          </a:xfrm>
          <a:prstGeom prst="rect">
            <a:avLst/>
          </a:prstGeom>
          <a:solidFill>
            <a:srgbClr val="179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453896"/>
            <a:ext cx="21305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总页数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764792"/>
            <a:ext cx="2130552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68 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783080"/>
            <a:ext cx="192024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242C3A"/>
                </a:solidFill>
                <a:latin typeface="Microsoft YaHei"/>
              </a:defRPr>
            </a:pPr>
            <a:r>
              <a:t>68 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25880"/>
            <a:ext cx="24231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73152" cy="868680"/>
          </a:xfrm>
          <a:prstGeom prst="rect">
            <a:avLst/>
          </a:prstGeom>
          <a:solidFill>
            <a:srgbClr val="EA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453896"/>
            <a:ext cx="21305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平均页数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764792"/>
            <a:ext cx="2130552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11.3 页/份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83080"/>
            <a:ext cx="192024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242C3A"/>
                </a:solidFill>
                <a:latin typeface="Microsoft YaHei"/>
              </a:defRPr>
            </a:pPr>
            <a:r>
              <a:t>11.3 页/份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39" y="1325880"/>
            <a:ext cx="24231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39" y="1325880"/>
            <a:ext cx="73152" cy="868680"/>
          </a:xfrm>
          <a:prstGeom prst="rect">
            <a:avLst/>
          </a:prstGeom>
          <a:solidFill>
            <a:srgbClr val="33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1" y="1453896"/>
            <a:ext cx="21305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页面比例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1" y="1764792"/>
            <a:ext cx="2130552" cy="3017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16:9 宽屏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1783080"/>
            <a:ext cx="192024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700" b="1">
                <a:solidFill>
                  <a:srgbClr val="242C3A"/>
                </a:solidFill>
                <a:latin typeface="Microsoft YaHei"/>
              </a:defRPr>
            </a:pPr>
            <a:r>
              <a:t>16:9 宽屏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542032"/>
            <a:ext cx="5257800" cy="2697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2542032"/>
            <a:ext cx="73152" cy="2697480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670048"/>
            <a:ext cx="496519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统一结构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2980944"/>
            <a:ext cx="4965192" cy="213055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1. 封面与测试对象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2. 客观数据总览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3. 亮度/功率/峰值细节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4. RGB色域、色准、色偏、屏对比度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5. 主观问题点与专项问题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6. 结论、调试建议、风险优先级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44768" y="2542032"/>
          <a:ext cx="53492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685800"/>
                <a:gridCol w="1691640"/>
              </a:tblGrid>
              <a:tr h="38535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源报告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页数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代表模块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TCL75Q9M(10.21).pptx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客观数据总览 / 测试内容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TCL85Q10 LP-8.25.pptx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PART 01 / 客观数据总览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TCLA400 Pro和C10L分析报告(3.2).pptx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客观数据总览 / 测试内容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海信75E7S  Pro&amp;创维A9H（5.25）.pptx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客观数据总览 / 客观数据: 峰值亮度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海信75E8Q（9月5日）.pptx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PART 01 / 客观数据总览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海信75U7S  Pro分析报告 .pptx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客观数据总览 / 测试内容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BDC7D8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2011680" cy="32918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600" b="1">
                <a:solidFill>
                  <a:srgbClr val="1797B1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5669280" cy="6583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客观数据分析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57600"/>
            <a:ext cx="6400800" cy="10972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300" b="0">
                <a:solidFill>
                  <a:srgbClr val="D6DEEC"/>
                </a:solidFill>
                <a:latin typeface="Microsoft YaHei"/>
              </a:defRPr>
            </a:pPr>
            <a:r>
              <a:t>数据总览 -&gt; 细节项对比 -&gt; 关键差异解释</a:t>
            </a:r>
          </a:p>
          <a:p>
            <a:pPr>
              <a:defRPr sz="1300" b="0">
                <a:solidFill>
                  <a:srgbClr val="D6DEEC"/>
                </a:solidFill>
                <a:latin typeface="Microsoft YaHei"/>
              </a:defRPr>
            </a:pPr>
            <a:r>
              <a:t>建议每页只放一个判断主题，结论句放在右侧或底部。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客观数据总览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607040" cy="32004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300" b="1">
                <a:solidFill>
                  <a:srgbClr val="CA3D43"/>
                </a:solidFill>
                <a:latin typeface="Microsoft YaHei"/>
              </a:defRPr>
            </a:pPr>
            <a:r>
              <a:t>结论摘要：{一句话说明本机相对竞品的客观优势/短板}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91640"/>
          <a:ext cx="99669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1901952"/>
                <a:gridCol w="1170432"/>
                <a:gridCol w="1170432"/>
                <a:gridCol w="1170432"/>
                <a:gridCol w="2788920"/>
                <a:gridCol w="777240"/>
              </a:tblGrid>
              <a:tr h="462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本机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竞品A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竞品B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差异判断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亮度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全白/峰值/Real Scene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填入差异、原因和用户影响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P0/P1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功率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HDR/SDR典型功耗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标注亮度效率是否占优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色域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BT.2020/DCI-P3/NTSC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说明覆盖率、四色波长策略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P0/P1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色准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ΔE Avg/Max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判断默认模式是否可交付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色偏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白平衡/RGB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标记偏红/偏绿/偏蓝趋势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对比度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ANSI/暗场/LD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判断暗场黑位与泛光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P0/P1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均匀性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亮度/色温均匀性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说明边角、脏屏、色斑风险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综合评级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A/B/C 评级 + 调试方向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客观数据细节项对比 | 亮度 / 功率 / 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6537960" cy="4096512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53896"/>
            <a:ext cx="62636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亮度与功率曲线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09544"/>
            <a:ext cx="61356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25880"/>
            <a:ext cx="379476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325880"/>
            <a:ext cx="73152" cy="1024128"/>
          </a:xfrm>
          <a:prstGeom prst="rect">
            <a:avLst/>
          </a:prstGeom>
          <a:solidFill>
            <a:srgbClr val="CA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1453896"/>
            <a:ext cx="35021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1764792"/>
            <a:ext cx="3502152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{本机在 HDR 峰值 / Real Scene / 功耗效率上的表现}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542032"/>
            <a:ext cx="379476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542032"/>
            <a:ext cx="73152" cy="1024128"/>
          </a:xfrm>
          <a:prstGeom prst="rect">
            <a:avLst/>
          </a:prstGeom>
          <a:solidFill>
            <a:srgbClr val="EA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2670048"/>
            <a:ext cx="35021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差异原因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980944"/>
            <a:ext cx="3502152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{背光分区、ABL、热保护、算法策略}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758184"/>
            <a:ext cx="379476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758184"/>
            <a:ext cx="73152" cy="1024128"/>
          </a:xfrm>
          <a:prstGeom prst="rect">
            <a:avLst/>
          </a:prstGeom>
          <a:solidFill>
            <a:srgbClr val="33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3886200"/>
            <a:ext cx="35021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调试建议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4197096"/>
            <a:ext cx="3502152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{优先改动项、风险和回归验证指标}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24128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推荐图表：10%窗口峰值、全白亮度、Real Scene、功耗效率，统一单位和测试模式。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客观数据 | RGB 色域 / 四色 B-C 波长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138928" cy="4297680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26464"/>
            <a:ext cx="4864608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CIE 1931 / CIE 1976 色域图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2696"/>
            <a:ext cx="4736592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1298448"/>
          <a:ext cx="518464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60120"/>
                <a:gridCol w="960120"/>
                <a:gridCol w="960120"/>
                <a:gridCol w="1207008"/>
              </a:tblGrid>
              <a:tr h="47183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本机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竞品A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竞品B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判断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R波长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643nm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固定基准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G波长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524nm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固定基准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B波长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{nm}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蓝色覆盖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832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C波长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{nm}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青色补偿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080760" y="3886200"/>
            <a:ext cx="2487168" cy="12070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3886200"/>
            <a:ext cx="73152" cy="1207008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4014216"/>
            <a:ext cx="2194560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应用判定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4325112"/>
            <a:ext cx="2194560" cy="6400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按目标色域、亮度效率、肤色/天空/草地场景判断 B/C 调用比例。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96528" y="3886200"/>
            <a:ext cx="2468880" cy="12070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96528" y="3886200"/>
            <a:ext cx="73152" cy="1207008"/>
          </a:xfrm>
          <a:prstGeom prst="rect">
            <a:avLst/>
          </a:prstGeom>
          <a:solidFill>
            <a:srgbClr val="CA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014216"/>
            <a:ext cx="217627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风险项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325112"/>
            <a:ext cx="2176272" cy="6400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关注蓝青断层、白点漂移、色准 ΔE 和低亮色偏。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客观数据 | 色准 / 色偏 / 屏对比度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337560" cy="3090672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53896"/>
            <a:ext cx="30632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色准 ΔE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06624"/>
            <a:ext cx="29352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337560" cy="3090672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53896"/>
            <a:ext cx="30632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RGB Balance / 色温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706624"/>
            <a:ext cx="29352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325880"/>
            <a:ext cx="3108960" cy="3090672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53896"/>
            <a:ext cx="28346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对比度 / 暗场图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706624"/>
            <a:ext cx="27066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17720"/>
            <a:ext cx="33375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617720"/>
            <a:ext cx="73152" cy="804672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45736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色准结论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56632"/>
            <a:ext cx="3044952" cy="23774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{平均/最大 ΔE 是否达标}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4617720"/>
            <a:ext cx="33375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4617720"/>
            <a:ext cx="73152" cy="804672"/>
          </a:xfrm>
          <a:prstGeom prst="rect">
            <a:avLst/>
          </a:prstGeom>
          <a:solidFill>
            <a:srgbClr val="EA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45736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色偏结论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56632"/>
            <a:ext cx="3044952" cy="23774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{偏色方向与影响场景}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4617720"/>
            <a:ext cx="31089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4617720"/>
            <a:ext cx="73152" cy="804672"/>
          </a:xfrm>
          <a:prstGeom prst="rect">
            <a:avLst/>
          </a:prstGeom>
          <a:solidFill>
            <a:srgbClr val="33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745736"/>
            <a:ext cx="28163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对比度结论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056632"/>
            <a:ext cx="2816352" cy="23774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{黑位/泛光/控光策略}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BDC7D8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2011680" cy="32918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600" b="1">
                <a:solidFill>
                  <a:srgbClr val="1797B1"/>
                </a:solidFill>
                <a:latin typeface="Microsoft YaHei"/>
              </a:defRPr>
            </a:pPr>
            <a:r>
              <a:t>PART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5669280" cy="65836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主观视效与问题点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57600"/>
            <a:ext cx="6400800" cy="10972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300" b="0">
                <a:solidFill>
                  <a:srgbClr val="D6DEEC"/>
                </a:solidFill>
                <a:latin typeface="Microsoft YaHei"/>
              </a:defRPr>
            </a:pPr>
            <a:r>
              <a:t>问题截图 -&gt; 复现条件 -&gt; 根因判断 -&gt; 调试建议</a:t>
            </a:r>
          </a:p>
          <a:p>
            <a:pPr>
              <a:defRPr sz="1300" b="0">
                <a:solidFill>
                  <a:srgbClr val="D6DEEC"/>
                </a:solidFill>
                <a:latin typeface="Microsoft YaHei"/>
              </a:defRPr>
            </a:pPr>
            <a:r>
              <a:t>主观页需和前面的客观指标互相印证。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主观视效问题点总览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71600"/>
          <a:ext cx="10698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965960"/>
                <a:gridCol w="1965960"/>
                <a:gridCol w="2743200"/>
                <a:gridCol w="822960"/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本机表现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竞品对比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可能原因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暗场泛光/黑位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电影暗场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LD/黑位补偿/伽马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肤色偏色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人物特写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白平衡/色彩管理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高光压缩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HDR高亮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Tone Mapping/ABL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运动拖影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体育/游戏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MEMC/响应时间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色彩断层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天空/渐变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B/C调用/量化/降噪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艺术模式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静态图片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色温/锐化/环境光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{补充}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专项问题分析 | 控光 / LD / 暗场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138928" cy="3035808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81328"/>
            <a:ext cx="4864608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本机截图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06624"/>
            <a:ext cx="4736592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53312"/>
            <a:ext cx="5138928" cy="3035808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81328"/>
            <a:ext cx="4864608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竞品截图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706624"/>
            <a:ext cx="4736592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617720"/>
            <a:ext cx="33375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617720"/>
            <a:ext cx="73152" cy="822960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45736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复现条件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56632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{片源 / 模式 / 亮度 / LD档位}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4617720"/>
            <a:ext cx="33375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4617720"/>
            <a:ext cx="73152" cy="822960"/>
          </a:xfrm>
          <a:prstGeom prst="rect">
            <a:avLst/>
          </a:prstGeom>
          <a:solidFill>
            <a:srgbClr val="EA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745736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根因判断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56632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{分区响应 / 黑位策略 / 伽马}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4617720"/>
            <a:ext cx="31089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4617720"/>
            <a:ext cx="73152" cy="822960"/>
          </a:xfrm>
          <a:prstGeom prst="rect">
            <a:avLst/>
          </a:prstGeom>
          <a:solidFill>
            <a:srgbClr val="33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745736"/>
            <a:ext cx="28163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056632"/>
            <a:ext cx="28163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{参数方向与验证点}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专项问题分析 | MEMC / 运动 / 艺术模式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PART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3337560" cy="2514600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81328"/>
            <a:ext cx="30632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运动场景截图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46020"/>
            <a:ext cx="29352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53312"/>
            <a:ext cx="3337560" cy="2514600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81328"/>
            <a:ext cx="30632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艺术模式截图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46020"/>
            <a:ext cx="29352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353312"/>
            <a:ext cx="3108960" cy="2514600"/>
          </a:xfrm>
          <a:prstGeom prst="roundRect">
            <a:avLst/>
          </a:prstGeom>
          <a:solidFill>
            <a:srgbClr val="EBF0F8"/>
          </a:solidFill>
          <a:ln w="12700">
            <a:solidFill>
              <a:srgbClr val="BF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81328"/>
            <a:ext cx="283464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00" b="1">
                <a:solidFill>
                  <a:srgbClr val="242C3A"/>
                </a:solidFill>
                <a:latin typeface="Microsoft YaHei"/>
              </a:defRPr>
            </a:pPr>
            <a:r>
              <a:t>竞品对照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446020"/>
            <a:ext cx="2706624" cy="329184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>
              <a:defRPr sz="1000" b="0">
                <a:solidFill>
                  <a:srgbClr val="697586"/>
                </a:solidFill>
                <a:latin typeface="Microsoft YaHei"/>
              </a:defRPr>
            </a:pPr>
            <a:r>
              <a:t>粘贴截图 / 数据图表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60520"/>
            <a:ext cx="333756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160520"/>
            <a:ext cx="73152" cy="1170432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6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MEMC判断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99432"/>
            <a:ext cx="3044952" cy="60350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拖影、抖动、肥皂感、插帧错误。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4160520"/>
            <a:ext cx="333756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4160520"/>
            <a:ext cx="73152" cy="1170432"/>
          </a:xfrm>
          <a:prstGeom prst="rect">
            <a:avLst/>
          </a:prstGeom>
          <a:solidFill>
            <a:srgbClr val="EA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88536"/>
            <a:ext cx="30449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艺术模式判断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99432"/>
            <a:ext cx="3044952" cy="60350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色温、亮度、锐化、环境光适配。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4160520"/>
            <a:ext cx="310896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4160520"/>
            <a:ext cx="73152" cy="1170432"/>
          </a:xfrm>
          <a:prstGeom prst="rect">
            <a:avLst/>
          </a:prstGeom>
          <a:solidFill>
            <a:srgbClr val="33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288536"/>
            <a:ext cx="281635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回归验证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599432"/>
            <a:ext cx="2816352" cy="603504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同片源、同模式、同环境复测。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772400" cy="4572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2000" b="1">
                <a:solidFill>
                  <a:srgbClr val="242C3A"/>
                </a:solidFill>
                <a:latin typeface="Microsoft YaHei"/>
              </a:defRPr>
            </a:pPr>
            <a:r>
              <a:t>结论与调试建议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023360" cy="228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800" b="0">
                <a:solidFill>
                  <a:srgbClr val="697586"/>
                </a:solidFill>
                <a:latin typeface="Microsoft YaHei"/>
              </a:defRPr>
            </a:pPr>
            <a:r>
              <a:t>TV Picture Quality Competitive Analysis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66928"/>
            <a:ext cx="2029968" cy="329184"/>
          </a:xfrm>
          <a:prstGeom prst="round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630936"/>
            <a:ext cx="1901952" cy="1828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246120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73152" cy="1298448"/>
          </a:xfrm>
          <a:prstGeom prst="rect">
            <a:avLst/>
          </a:prstGeom>
          <a:solidFill>
            <a:srgbClr val="CA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53896"/>
            <a:ext cx="295351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综合结论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64792"/>
            <a:ext cx="2953512" cy="7315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{一句话说明本机竞争力、主要优势和必须解决的短板}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246120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25880"/>
            <a:ext cx="73152" cy="1298448"/>
          </a:xfrm>
          <a:prstGeom prst="rect">
            <a:avLst/>
          </a:prstGeom>
          <a:solidFill>
            <a:srgbClr val="EA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53896"/>
            <a:ext cx="295351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优先改进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64792"/>
            <a:ext cx="2953512" cy="7315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P0：{必须处理}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P1：{建议优化}</a:t>
            </a:r>
          </a:p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P2：{观察项}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325880"/>
            <a:ext cx="3246120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325880"/>
            <a:ext cx="73152" cy="1298448"/>
          </a:xfrm>
          <a:prstGeom prst="rect">
            <a:avLst/>
          </a:prstGeom>
          <a:solidFill>
            <a:srgbClr val="1F5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53896"/>
            <a:ext cx="2953512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1200" b="1">
                <a:solidFill>
                  <a:srgbClr val="242C3A"/>
                </a:solidFill>
                <a:latin typeface="Microsoft YaHei"/>
              </a:defRPr>
            </a:pPr>
            <a:r>
              <a:t>交付风险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64792"/>
            <a:ext cx="2953512" cy="7315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defRPr sz="900" b="0">
                <a:solidFill>
                  <a:srgbClr val="697586"/>
                </a:solidFill>
                <a:latin typeface="Microsoft YaHei"/>
              </a:defRPr>
            </a:pPr>
            <a:r>
              <a:t>{量产/调试/体验风险与验收口径}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8368" y="2971800"/>
          <a:ext cx="10835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94560"/>
                <a:gridCol w="2834640"/>
                <a:gridCol w="2743200"/>
                <a:gridCol w="214884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调试方向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验证指标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负责人/日期</a:t>
                      </a:r>
                    </a:p>
                  </a:txBody>
                  <a:tcPr>
                    <a:solidFill>
                      <a:srgbClr val="18223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{核心问题}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{参数/算法/模式}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{客观指标+主观场景}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{姓名/日期}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{优化项}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{参数/算法/模式}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{复测标准}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{姓名/日期}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{观察项}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{后续跟踪}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{量产抽检}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{姓名/日期}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关闭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{已解决项}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{固化版本}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{回归通过}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 b="0">
                          <a:solidFill>
                            <a:srgbClr val="242C3A"/>
                          </a:solidFill>
                          <a:latin typeface="Microsoft YaHei"/>
                        </a:defRPr>
                      </a:pPr>
                      <a:r>
                        <a:t>{版本号}</a:t>
                      </a:r>
                    </a:p>
                  </a:txBody>
                  <a:tcPr>
                    <a:solidFill>
                      <a:srgbClr val="F9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