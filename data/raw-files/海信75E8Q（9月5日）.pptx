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7"/>
  </p:notesMasterIdLst>
  <p:handoutMasterIdLst>
    <p:handoutMasterId r:id="rId19"/>
  </p:handoutMasterIdLst>
  <p:sldIdLst>
    <p:sldId id="288" r:id="rId4"/>
    <p:sldId id="290" r:id="rId5"/>
    <p:sldId id="264" r:id="rId6"/>
    <p:sldId id="324" r:id="rId8"/>
    <p:sldId id="375" r:id="rId9"/>
    <p:sldId id="376" r:id="rId10"/>
    <p:sldId id="388" r:id="rId11"/>
    <p:sldId id="366" r:id="rId12"/>
    <p:sldId id="291" r:id="rId13"/>
    <p:sldId id="327" r:id="rId14"/>
    <p:sldId id="328" r:id="rId15"/>
    <p:sldId id="329" r:id="rId16"/>
    <p:sldId id="374" r:id="rId17"/>
    <p:sldId id="331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者" initials="A" lastIdx="0" clrIdx="2"/>
  <p:cmAuthor id="1312837854" name="Ruby" initials="R" lastIdx="14" clrIdx="0"/>
  <p:cmAuthor id="1" name="胡 勃涛" initials="胡" lastIdx="1" clrIdx="0"/>
  <p:cmAuthor id="4" name="1206988966@qq.com" initials="1" lastIdx="1" clrIdx="2"/>
  <p:cmAuthor id="5" name="姜伟光" initials="姜" lastIdx="1" clrIdx="0"/>
  <p:cmAuthor id="6" name="lenovo" initials="l" lastIdx="6" clrIdx="2"/>
  <p:cmAuthor id="7" name="Administrator" initials="A" lastIdx="4" clrIdx="3"/>
  <p:cmAuthor id="8" name="宋洁然" initials="宋" lastIdx="2" clrIdx="1"/>
  <p:cmAuthor id="9" name="ming qiu" initials="m" lastIdx="17" clrIdx="1"/>
  <p:cmAuthor id="10" name="Unknown User4" initials="U" lastIdx="1" clrIdx="10"/>
  <p:cmAuthor id="11" name="Unknown User6" initials="U" lastIdx="1" clrIdx="12"/>
  <p:cmAuthor id="12" name="Unknown User7" initials="U" lastIdx="1" clrIdx="13"/>
  <p:cmAuthor id="13" name="Unknown User8" initials="U" lastIdx="1" clrIdx="14"/>
  <p:cmAuthor id="14" name="Unknown User9" initials="U" lastIdx="1" clrIdx="15"/>
  <p:cmAuthor id="1312837855" name="曹凡" initials="曹凡" lastIdx="1" clrIdx="1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D8E8"/>
    <a:srgbClr val="E9EDF4"/>
    <a:srgbClr val="5B9BD5"/>
    <a:srgbClr val="990000"/>
    <a:srgbClr val="B2B2B2"/>
    <a:srgbClr val="202020"/>
    <a:srgbClr val="323232"/>
    <a:srgbClr val="CC3300"/>
    <a:srgbClr val="CC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3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96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960"/>
              <a:t>亮度及功率对比</a:t>
            </a:r>
            <a:r>
              <a:rPr lang="en-US" altLang="zh-CN" sz="960"/>
              <a:t>(20</a:t>
            </a:r>
            <a:r>
              <a:rPr altLang="en-US" sz="960"/>
              <a:t>分钟</a:t>
            </a:r>
            <a:r>
              <a:rPr lang="en-US" altLang="zh-CN" sz="960"/>
              <a:t>)</a:t>
            </a:r>
            <a:endParaRPr lang="en-US" altLang="zh-CN" sz="960"/>
          </a:p>
        </c:rich>
      </c:tx>
      <c:layout>
        <c:manualLayout>
          <c:xMode val="edge"/>
          <c:yMode val="edge"/>
          <c:x val="0.395989746750337"/>
          <c:y val="0.0076491585925548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30434782608696"/>
          <c:y val="0.0930496453900709"/>
          <c:w val="0.913963210702341"/>
          <c:h val="0.7185531914893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海信亮度</c:v>
                </c:pt>
              </c:strCache>
            </c:strRef>
          </c:tx>
          <c:spPr>
            <a:ln w="22225" cap="rnd">
              <a:solidFill>
                <a:srgbClr val="990000"/>
              </a:solidFill>
              <a:round/>
            </a:ln>
            <a:effectLst/>
            <a:sp3d contourW="22225"/>
          </c:spPr>
          <c:marker>
            <c:symbol val="circle"/>
            <c:size val="4"/>
            <c:spPr>
              <a:solidFill>
                <a:srgbClr val="990000"/>
              </a:solidFill>
              <a:ln w="9525">
                <a:noFill/>
              </a:ln>
              <a:effectLst/>
            </c:spPr>
          </c:marker>
          <c:dPt>
            <c:idx val="12"/>
            <c:marker>
              <c:symbol val="circle"/>
              <c:size val="8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Pt>
            <c:idx val="16"/>
            <c:marker>
              <c:symbol val="circle"/>
              <c:size val="4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Sheet1!$B$2:$B$22</c:f>
              <c:numCache>
                <c:formatCode>0.0_ </c:formatCode>
                <c:ptCount val="21"/>
                <c:pt idx="0">
                  <c:v>765.24</c:v>
                </c:pt>
                <c:pt idx="1">
                  <c:v>788.23</c:v>
                </c:pt>
                <c:pt idx="2">
                  <c:v>840.92</c:v>
                </c:pt>
                <c:pt idx="3">
                  <c:v>864.52</c:v>
                </c:pt>
                <c:pt idx="4">
                  <c:v>899.33</c:v>
                </c:pt>
                <c:pt idx="5">
                  <c:v>960.87</c:v>
                </c:pt>
                <c:pt idx="6">
                  <c:v>1034.8</c:v>
                </c:pt>
                <c:pt idx="7">
                  <c:v>1100.5</c:v>
                </c:pt>
                <c:pt idx="8">
                  <c:v>1184.2</c:v>
                </c:pt>
                <c:pt idx="9">
                  <c:v>1237.2</c:v>
                </c:pt>
                <c:pt idx="10">
                  <c:v>1283.5</c:v>
                </c:pt>
                <c:pt idx="11">
                  <c:v>1363.4</c:v>
                </c:pt>
                <c:pt idx="12">
                  <c:v>1446.3</c:v>
                </c:pt>
                <c:pt idx="13">
                  <c:v>681.2</c:v>
                </c:pt>
                <c:pt idx="14">
                  <c:v>731.2</c:v>
                </c:pt>
                <c:pt idx="15">
                  <c:v>826.6</c:v>
                </c:pt>
                <c:pt idx="16">
                  <c:v>949.33</c:v>
                </c:pt>
                <c:pt idx="17">
                  <c:v>1087.7</c:v>
                </c:pt>
                <c:pt idx="18">
                  <c:v>1236.7</c:v>
                </c:pt>
                <c:pt idx="19">
                  <c:v>1071.9</c:v>
                </c:pt>
                <c:pt idx="20">
                  <c:v>910.93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创维亮度</c:v>
                </c:pt>
              </c:strCache>
            </c:strRef>
          </c:tx>
          <c:spPr>
            <a:ln w="22225" cap="rnd">
              <a:solidFill>
                <a:schemeClr val="accent5"/>
              </a:solidFill>
              <a:round/>
            </a:ln>
            <a:effectLst/>
            <a:sp3d contourW="22225"/>
          </c:spPr>
          <c:marker>
            <c:symbol val="circle"/>
            <c:size val="4"/>
            <c:spPr>
              <a:solidFill>
                <a:schemeClr val="accent5"/>
              </a:solidFill>
              <a:ln w="0" cmpd="dbl">
                <a:noFill/>
                <a:prstDash val="sysDot"/>
              </a:ln>
              <a:effectLst/>
            </c:spPr>
          </c:marker>
          <c:dPt>
            <c:idx val="1"/>
            <c:marker>
              <c:symbol val="circle"/>
              <c:size val="4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  <c:spPr>
              <a:ln w="22225" cap="rnd" cmpd="sng">
                <a:solidFill>
                  <a:schemeClr val="accent5"/>
                </a:solidFill>
                <a:prstDash val="solid"/>
                <a:round/>
                <a:headEnd type="none"/>
                <a:tailEnd type="none"/>
              </a:ln>
              <a:effectLst/>
              <a:sp3d contourW="22225"/>
            </c:spPr>
          </c:dPt>
          <c:dPt>
            <c:idx val="12"/>
            <c:marker>
              <c:symbol val="circle"/>
              <c:size val="4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Pt>
            <c:idx val="13"/>
            <c:marker>
              <c:symbol val="circle"/>
              <c:size val="4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Pt>
            <c:idx val="15"/>
            <c:marker>
              <c:symbol val="circle"/>
              <c:size val="8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Pt>
            <c:idx val="16"/>
            <c:marker>
              <c:symbol val="circle"/>
              <c:size val="4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737.38</c:v>
                </c:pt>
                <c:pt idx="1">
                  <c:v>767.41</c:v>
                </c:pt>
                <c:pt idx="2">
                  <c:v>814.82</c:v>
                </c:pt>
                <c:pt idx="3">
                  <c:v>839.81</c:v>
                </c:pt>
                <c:pt idx="4">
                  <c:v>893.78</c:v>
                </c:pt>
                <c:pt idx="5">
                  <c:v>944.59</c:v>
                </c:pt>
                <c:pt idx="6">
                  <c:v>1012.2</c:v>
                </c:pt>
                <c:pt idx="7">
                  <c:v>1102.1</c:v>
                </c:pt>
                <c:pt idx="8">
                  <c:v>1155.3</c:v>
                </c:pt>
                <c:pt idx="9">
                  <c:v>1244.1</c:v>
                </c:pt>
                <c:pt idx="10">
                  <c:v>1388.1</c:v>
                </c:pt>
                <c:pt idx="11">
                  <c:v>1492.6</c:v>
                </c:pt>
                <c:pt idx="12">
                  <c:v>1653.1</c:v>
                </c:pt>
                <c:pt idx="13">
                  <c:v>1810.1</c:v>
                </c:pt>
                <c:pt idx="14">
                  <c:v>1881.2</c:v>
                </c:pt>
                <c:pt idx="15">
                  <c:v>2057.1</c:v>
                </c:pt>
                <c:pt idx="16">
                  <c:v>1990.1</c:v>
                </c:pt>
                <c:pt idx="17">
                  <c:v>1897.2</c:v>
                </c:pt>
                <c:pt idx="18">
                  <c:v>1740.8</c:v>
                </c:pt>
                <c:pt idx="19">
                  <c:v>1459.4</c:v>
                </c:pt>
                <c:pt idx="20">
                  <c:v>1079.1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海信功率</c:v>
                </c:pt>
              </c:strCache>
            </c:strRef>
          </c:tx>
          <c:spPr>
            <a:ln w="22225" cap="rnd">
              <a:solidFill>
                <a:srgbClr val="990000"/>
              </a:solidFill>
              <a:prstDash val="sysDot"/>
              <a:round/>
            </a:ln>
            <a:effectLst/>
            <a:sp3d contourW="22225"/>
          </c:spPr>
          <c:marker>
            <c:symbol val="circle"/>
            <c:size val="4"/>
            <c:spPr>
              <a:solidFill>
                <a:srgbClr val="990000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8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285</c:v>
                </c:pt>
                <c:pt idx="1">
                  <c:v>285</c:v>
                </c:pt>
                <c:pt idx="2">
                  <c:v>285</c:v>
                </c:pt>
                <c:pt idx="3">
                  <c:v>284</c:v>
                </c:pt>
                <c:pt idx="4">
                  <c:v>284</c:v>
                </c:pt>
                <c:pt idx="5">
                  <c:v>284</c:v>
                </c:pt>
                <c:pt idx="6">
                  <c:v>283</c:v>
                </c:pt>
                <c:pt idx="7">
                  <c:v>283</c:v>
                </c:pt>
                <c:pt idx="8">
                  <c:v>282</c:v>
                </c:pt>
                <c:pt idx="9">
                  <c:v>281</c:v>
                </c:pt>
                <c:pt idx="10">
                  <c:v>282</c:v>
                </c:pt>
                <c:pt idx="11">
                  <c:v>282</c:v>
                </c:pt>
                <c:pt idx="12">
                  <c:v>282</c:v>
                </c:pt>
                <c:pt idx="13">
                  <c:v>128</c:v>
                </c:pt>
                <c:pt idx="14">
                  <c:v>128</c:v>
                </c:pt>
                <c:pt idx="15">
                  <c:v>129</c:v>
                </c:pt>
                <c:pt idx="16">
                  <c:v>129</c:v>
                </c:pt>
                <c:pt idx="17">
                  <c:v>129</c:v>
                </c:pt>
                <c:pt idx="18">
                  <c:v>129</c:v>
                </c:pt>
                <c:pt idx="19">
                  <c:v>79</c:v>
                </c:pt>
                <c:pt idx="20">
                  <c:v>55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创维功率</c:v>
                </c:pt>
              </c:strCache>
            </c:strRef>
          </c:tx>
          <c:spPr>
            <a:ln w="22225" cap="rnd">
              <a:solidFill>
                <a:schemeClr val="accent5"/>
              </a:solidFill>
              <a:prstDash val="sysDot"/>
              <a:round/>
            </a:ln>
            <a:effectLst/>
            <a:sp3d contourW="22225"/>
          </c:spPr>
          <c:marker>
            <c:symbol val="circle"/>
            <c:size val="4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8"/>
              <c:spPr>
                <a:solidFill>
                  <a:schemeClr val="accent5"/>
                </a:solidFill>
                <a:ln w="9525">
                  <a:noFill/>
                </a:ln>
                <a:effectLst/>
              </c:spPr>
            </c:marker>
            <c:bubble3D val="0"/>
          </c:dPt>
          <c:dPt>
            <c:idx val="12"/>
            <c:marker>
              <c:symbol val="circle"/>
              <c:size val="4"/>
              <c:spPr>
                <a:solidFill>
                  <a:schemeClr val="accent5"/>
                </a:solidFill>
                <a:ln w="9525">
                  <a:noFill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269</c:v>
                </c:pt>
                <c:pt idx="1">
                  <c:v>269</c:v>
                </c:pt>
                <c:pt idx="2">
                  <c:v>269</c:v>
                </c:pt>
                <c:pt idx="3">
                  <c:v>269</c:v>
                </c:pt>
                <c:pt idx="4">
                  <c:v>269</c:v>
                </c:pt>
                <c:pt idx="5">
                  <c:v>269</c:v>
                </c:pt>
                <c:pt idx="6">
                  <c:v>268</c:v>
                </c:pt>
                <c:pt idx="7">
                  <c:v>270</c:v>
                </c:pt>
                <c:pt idx="8">
                  <c:v>269</c:v>
                </c:pt>
                <c:pt idx="9">
                  <c:v>269</c:v>
                </c:pt>
                <c:pt idx="10">
                  <c:v>269</c:v>
                </c:pt>
                <c:pt idx="11">
                  <c:v>273</c:v>
                </c:pt>
                <c:pt idx="12">
                  <c:v>273</c:v>
                </c:pt>
                <c:pt idx="13">
                  <c:v>272</c:v>
                </c:pt>
                <c:pt idx="14">
                  <c:v>266</c:v>
                </c:pt>
                <c:pt idx="15">
                  <c:v>238</c:v>
                </c:pt>
                <c:pt idx="16">
                  <c:v>199</c:v>
                </c:pt>
                <c:pt idx="17">
                  <c:v>160</c:v>
                </c:pt>
                <c:pt idx="18">
                  <c:v>116</c:v>
                </c:pt>
                <c:pt idx="19">
                  <c:v>73</c:v>
                </c:pt>
                <c:pt idx="20">
                  <c:v>49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1186888"/>
        <c:axId val="33740152"/>
      </c:lineChart>
      <c:catAx>
        <c:axId val="1611868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740152"/>
        <c:crosses val="autoZero"/>
        <c:auto val="1"/>
        <c:lblAlgn val="ctr"/>
        <c:lblOffset val="100"/>
        <c:noMultiLvlLbl val="0"/>
      </c:catAx>
      <c:valAx>
        <c:axId val="33740152"/>
        <c:scaling>
          <c:orientation val="minMax"/>
          <c:max val="2200"/>
          <c:min val="5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1186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899874581939799"/>
          <c:y val="0.902991922127533"/>
          <c:w val="0.764109531772575"/>
          <c:h val="0.092752758723531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96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960"/>
              <a:t>亮度及功率对比</a:t>
            </a:r>
            <a:r>
              <a:rPr lang="en-US" altLang="zh-CN" sz="960"/>
              <a:t>(1</a:t>
            </a:r>
            <a:r>
              <a:rPr altLang="en-US" sz="960"/>
              <a:t>分钟</a:t>
            </a:r>
            <a:r>
              <a:rPr lang="en-US" altLang="zh-CN" sz="960"/>
              <a:t>)</a:t>
            </a:r>
            <a:endParaRPr lang="en-US" altLang="zh-CN" sz="960"/>
          </a:p>
        </c:rich>
      </c:tx>
      <c:layout>
        <c:manualLayout>
          <c:xMode val="edge"/>
          <c:yMode val="edge"/>
          <c:x val="0.423547240802676"/>
          <c:y val="0.00821242814125376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30434782608696"/>
          <c:y val="0.0930496453900709"/>
          <c:w val="0.913963210702341"/>
          <c:h val="0.7185531914893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海信亮度</c:v>
                </c:pt>
              </c:strCache>
            </c:strRef>
          </c:tx>
          <c:spPr>
            <a:ln w="22225" cap="rnd">
              <a:solidFill>
                <a:srgbClr val="990000"/>
              </a:solidFill>
              <a:round/>
            </a:ln>
            <a:effectLst/>
            <a:sp3d contourW="22225"/>
          </c:spPr>
          <c:marker>
            <c:symbol val="circle"/>
            <c:size val="4"/>
            <c:spPr>
              <a:solidFill>
                <a:srgbClr val="990000"/>
              </a:solidFill>
              <a:ln w="9525">
                <a:noFill/>
              </a:ln>
              <a:effectLst/>
            </c:spPr>
          </c:marker>
          <c:dPt>
            <c:idx val="12"/>
            <c:marker>
              <c:symbol val="circle"/>
              <c:size val="4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Pt>
            <c:idx val="16"/>
            <c:marker>
              <c:symbol val="circle"/>
              <c:size val="4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Pt>
            <c:idx val="18"/>
            <c:marker>
              <c:symbol val="circle"/>
              <c:size val="8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Sheet1!$B$2:$B$22</c:f>
              <c:numCache>
                <c:formatCode>0.0_ </c:formatCode>
                <c:ptCount val="21"/>
                <c:pt idx="0">
                  <c:v>765.24</c:v>
                </c:pt>
                <c:pt idx="1">
                  <c:v>788.23</c:v>
                </c:pt>
                <c:pt idx="2">
                  <c:v>840.92</c:v>
                </c:pt>
                <c:pt idx="3">
                  <c:v>864.52</c:v>
                </c:pt>
                <c:pt idx="4">
                  <c:v>899.33</c:v>
                </c:pt>
                <c:pt idx="5">
                  <c:v>960.87</c:v>
                </c:pt>
                <c:pt idx="6">
                  <c:v>1034.8</c:v>
                </c:pt>
                <c:pt idx="7">
                  <c:v>1100.5</c:v>
                </c:pt>
                <c:pt idx="8">
                  <c:v>1184.2</c:v>
                </c:pt>
                <c:pt idx="9">
                  <c:v>1237.2</c:v>
                </c:pt>
                <c:pt idx="10">
                  <c:v>1283.5</c:v>
                </c:pt>
                <c:pt idx="11">
                  <c:v>1363.4</c:v>
                </c:pt>
                <c:pt idx="12">
                  <c:v>1446.3</c:v>
                </c:pt>
                <c:pt idx="13">
                  <c:v>1634.2</c:v>
                </c:pt>
                <c:pt idx="14">
                  <c:v>1828.4</c:v>
                </c:pt>
                <c:pt idx="15">
                  <c:v>2532.5</c:v>
                </c:pt>
                <c:pt idx="16">
                  <c:v>2497.1</c:v>
                </c:pt>
                <c:pt idx="17">
                  <c:v>2922.5</c:v>
                </c:pt>
                <c:pt idx="18">
                  <c:v>3866.1</c:v>
                </c:pt>
                <c:pt idx="19">
                  <c:v>2863.2</c:v>
                </c:pt>
                <c:pt idx="20">
                  <c:v>2042.3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创维亮度</c:v>
                </c:pt>
              </c:strCache>
            </c:strRef>
          </c:tx>
          <c:spPr>
            <a:ln w="22225" cap="rnd">
              <a:solidFill>
                <a:schemeClr val="accent5"/>
              </a:solidFill>
              <a:round/>
            </a:ln>
            <a:effectLst/>
            <a:sp3d contourW="22225"/>
          </c:spPr>
          <c:marker>
            <c:symbol val="circle"/>
            <c:size val="4"/>
            <c:spPr>
              <a:solidFill>
                <a:schemeClr val="accent5"/>
              </a:solidFill>
              <a:ln w="0" cmpd="dbl">
                <a:noFill/>
                <a:prstDash val="sysDot"/>
              </a:ln>
              <a:effectLst/>
            </c:spPr>
          </c:marker>
          <c:dPt>
            <c:idx val="1"/>
            <c:marker>
              <c:symbol val="circle"/>
              <c:size val="4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  <c:spPr>
              <a:ln w="22225" cap="rnd" cmpd="sng">
                <a:solidFill>
                  <a:schemeClr val="accent5"/>
                </a:solidFill>
                <a:prstDash val="solid"/>
                <a:round/>
                <a:headEnd type="none"/>
                <a:tailEnd type="none"/>
              </a:ln>
              <a:effectLst/>
              <a:sp3d contourW="22225"/>
            </c:spPr>
          </c:dPt>
          <c:dPt>
            <c:idx val="12"/>
            <c:marker>
              <c:symbol val="circle"/>
              <c:size val="4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Pt>
            <c:idx val="13"/>
            <c:marker>
              <c:symbol val="circle"/>
              <c:size val="4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Pt>
            <c:idx val="15"/>
            <c:marker>
              <c:symbol val="circle"/>
              <c:size val="8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Pt>
            <c:idx val="16"/>
            <c:marker>
              <c:symbol val="circle"/>
              <c:size val="4"/>
              <c:spPr>
                <a:solidFill>
                  <a:schemeClr val="accent5"/>
                </a:solidFill>
                <a:ln w="0" cmpd="dbl">
                  <a:noFill/>
                  <a:prstDash val="sysDot"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737.38</c:v>
                </c:pt>
                <c:pt idx="1">
                  <c:v>767.41</c:v>
                </c:pt>
                <c:pt idx="2">
                  <c:v>814.82</c:v>
                </c:pt>
                <c:pt idx="3">
                  <c:v>839.81</c:v>
                </c:pt>
                <c:pt idx="4">
                  <c:v>893.78</c:v>
                </c:pt>
                <c:pt idx="5">
                  <c:v>944.59</c:v>
                </c:pt>
                <c:pt idx="6">
                  <c:v>1012.2</c:v>
                </c:pt>
                <c:pt idx="7">
                  <c:v>1102.1</c:v>
                </c:pt>
                <c:pt idx="8">
                  <c:v>1155.3</c:v>
                </c:pt>
                <c:pt idx="9">
                  <c:v>1244.1</c:v>
                </c:pt>
                <c:pt idx="10">
                  <c:v>1388.1</c:v>
                </c:pt>
                <c:pt idx="11">
                  <c:v>1492.6</c:v>
                </c:pt>
                <c:pt idx="12">
                  <c:v>1653.1</c:v>
                </c:pt>
                <c:pt idx="13">
                  <c:v>1810.1</c:v>
                </c:pt>
                <c:pt idx="14">
                  <c:v>1881.2</c:v>
                </c:pt>
                <c:pt idx="15">
                  <c:v>2057.1</c:v>
                </c:pt>
                <c:pt idx="16">
                  <c:v>1990.1</c:v>
                </c:pt>
                <c:pt idx="17">
                  <c:v>1897.2</c:v>
                </c:pt>
                <c:pt idx="18">
                  <c:v>1740.8</c:v>
                </c:pt>
                <c:pt idx="19">
                  <c:v>1459.4</c:v>
                </c:pt>
                <c:pt idx="20">
                  <c:v>1079.1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海信功率</c:v>
                </c:pt>
              </c:strCache>
            </c:strRef>
          </c:tx>
          <c:spPr>
            <a:ln w="22225" cap="rnd">
              <a:solidFill>
                <a:srgbClr val="990000"/>
              </a:solidFill>
              <a:prstDash val="sysDot"/>
              <a:round/>
            </a:ln>
            <a:effectLst/>
            <a:sp3d contourW="22225"/>
          </c:spPr>
          <c:marker>
            <c:symbol val="circle"/>
            <c:size val="4"/>
            <c:spPr>
              <a:solidFill>
                <a:srgbClr val="990000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8"/>
              <c:spPr>
                <a:solidFill>
                  <a:srgbClr val="990000"/>
                </a:solidFill>
                <a:ln w="9525">
                  <a:noFill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285</c:v>
                </c:pt>
                <c:pt idx="1">
                  <c:v>285</c:v>
                </c:pt>
                <c:pt idx="2">
                  <c:v>285</c:v>
                </c:pt>
                <c:pt idx="3">
                  <c:v>284</c:v>
                </c:pt>
                <c:pt idx="4">
                  <c:v>284</c:v>
                </c:pt>
                <c:pt idx="5">
                  <c:v>284</c:v>
                </c:pt>
                <c:pt idx="6">
                  <c:v>283</c:v>
                </c:pt>
                <c:pt idx="7">
                  <c:v>283</c:v>
                </c:pt>
                <c:pt idx="8">
                  <c:v>282</c:v>
                </c:pt>
                <c:pt idx="9">
                  <c:v>281</c:v>
                </c:pt>
                <c:pt idx="10">
                  <c:v>282</c:v>
                </c:pt>
                <c:pt idx="11">
                  <c:v>282</c:v>
                </c:pt>
                <c:pt idx="12">
                  <c:v>282</c:v>
                </c:pt>
                <c:pt idx="13">
                  <c:v>282</c:v>
                </c:pt>
                <c:pt idx="14">
                  <c:v>282</c:v>
                </c:pt>
                <c:pt idx="15">
                  <c:v>282</c:v>
                </c:pt>
                <c:pt idx="16">
                  <c:v>282</c:v>
                </c:pt>
                <c:pt idx="17">
                  <c:v>282</c:v>
                </c:pt>
                <c:pt idx="18">
                  <c:v>282</c:v>
                </c:pt>
                <c:pt idx="19">
                  <c:v>150</c:v>
                </c:pt>
                <c:pt idx="20">
                  <c:v>90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创维功率</c:v>
                </c:pt>
              </c:strCache>
            </c:strRef>
          </c:tx>
          <c:spPr>
            <a:ln w="22225" cap="rnd">
              <a:solidFill>
                <a:schemeClr val="accent5"/>
              </a:solidFill>
              <a:prstDash val="sysDot"/>
              <a:round/>
            </a:ln>
            <a:effectLst/>
            <a:sp3d contourW="22225"/>
          </c:spPr>
          <c:marker>
            <c:symbol val="circle"/>
            <c:size val="4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dPt>
            <c:idx val="0"/>
            <c:marker>
              <c:symbol val="circle"/>
              <c:size val="8"/>
              <c:spPr>
                <a:solidFill>
                  <a:schemeClr val="accent5"/>
                </a:solidFill>
                <a:ln w="9525">
                  <a:noFill/>
                </a:ln>
                <a:effectLst/>
              </c:spPr>
            </c:marker>
            <c:bubble3D val="0"/>
          </c:dPt>
          <c:dPt>
            <c:idx val="12"/>
            <c:marker>
              <c:symbol val="circle"/>
              <c:size val="4"/>
              <c:spPr>
                <a:solidFill>
                  <a:schemeClr val="accent5"/>
                </a:solidFill>
                <a:ln w="9525">
                  <a:noFill/>
                </a:ln>
                <a:effectLst/>
              </c:spPr>
            </c:marker>
            <c:bubble3D val="0"/>
          </c:dPt>
          <c:dLbls>
            <c:delete val="1"/>
          </c:dLbls>
          <c:cat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0.95</c:v>
                </c:pt>
                <c:pt idx="2">
                  <c:v>0.9</c:v>
                </c:pt>
                <c:pt idx="3">
                  <c:v>0.85</c:v>
                </c:pt>
                <c:pt idx="4">
                  <c:v>0.8</c:v>
                </c:pt>
                <c:pt idx="5">
                  <c:v>0.75</c:v>
                </c:pt>
                <c:pt idx="6">
                  <c:v>0.7</c:v>
                </c:pt>
                <c:pt idx="7">
                  <c:v>0.65</c:v>
                </c:pt>
                <c:pt idx="8">
                  <c:v>0.6</c:v>
                </c:pt>
                <c:pt idx="9">
                  <c:v>0.55</c:v>
                </c:pt>
                <c:pt idx="10">
                  <c:v>0.5</c:v>
                </c:pt>
                <c:pt idx="11">
                  <c:v>0.45</c:v>
                </c:pt>
                <c:pt idx="12">
                  <c:v>0.4</c:v>
                </c:pt>
                <c:pt idx="13">
                  <c:v>0.35</c:v>
                </c:pt>
                <c:pt idx="14">
                  <c:v>0.3</c:v>
                </c:pt>
                <c:pt idx="15">
                  <c:v>0.25</c:v>
                </c:pt>
                <c:pt idx="16">
                  <c:v>0.2</c:v>
                </c:pt>
                <c:pt idx="17">
                  <c:v>0.15</c:v>
                </c:pt>
                <c:pt idx="18">
                  <c:v>0.1</c:v>
                </c:pt>
                <c:pt idx="19">
                  <c:v>0.05</c:v>
                </c:pt>
                <c:pt idx="20">
                  <c:v>0.02</c:v>
                </c:pt>
              </c:numCache>
            </c:num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269</c:v>
                </c:pt>
                <c:pt idx="1">
                  <c:v>269</c:v>
                </c:pt>
                <c:pt idx="2">
                  <c:v>269</c:v>
                </c:pt>
                <c:pt idx="3">
                  <c:v>269</c:v>
                </c:pt>
                <c:pt idx="4">
                  <c:v>269</c:v>
                </c:pt>
                <c:pt idx="5">
                  <c:v>269</c:v>
                </c:pt>
                <c:pt idx="6">
                  <c:v>268</c:v>
                </c:pt>
                <c:pt idx="7">
                  <c:v>270</c:v>
                </c:pt>
                <c:pt idx="8">
                  <c:v>269</c:v>
                </c:pt>
                <c:pt idx="9">
                  <c:v>269</c:v>
                </c:pt>
                <c:pt idx="10">
                  <c:v>269</c:v>
                </c:pt>
                <c:pt idx="11">
                  <c:v>273</c:v>
                </c:pt>
                <c:pt idx="12">
                  <c:v>273</c:v>
                </c:pt>
                <c:pt idx="13">
                  <c:v>272</c:v>
                </c:pt>
                <c:pt idx="14">
                  <c:v>266</c:v>
                </c:pt>
                <c:pt idx="15">
                  <c:v>238</c:v>
                </c:pt>
                <c:pt idx="16">
                  <c:v>199</c:v>
                </c:pt>
                <c:pt idx="17">
                  <c:v>160</c:v>
                </c:pt>
                <c:pt idx="18">
                  <c:v>116</c:v>
                </c:pt>
                <c:pt idx="19">
                  <c:v>73</c:v>
                </c:pt>
                <c:pt idx="20">
                  <c:v>49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1186888"/>
        <c:axId val="33740152"/>
      </c:lineChart>
      <c:catAx>
        <c:axId val="1611868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3740152"/>
        <c:crosses val="autoZero"/>
        <c:auto val="1"/>
        <c:lblAlgn val="ctr"/>
        <c:lblOffset val="100"/>
        <c:noMultiLvlLbl val="0"/>
      </c:catAx>
      <c:valAx>
        <c:axId val="33740152"/>
        <c:scaling>
          <c:orientation val="minMax"/>
          <c:max val="4000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61186888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0899874581939799"/>
          <c:y val="0.902991922127533"/>
          <c:w val="0.764109531772575"/>
          <c:h val="0.092752758723531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39229160442187"/>
          <c:y val="0.153530693533699"/>
          <c:w val="0.741858380639379"/>
          <c:h val="0.80551500405515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创维</c:v>
                </c:pt>
              </c:strCache>
            </c:strRef>
          </c:tx>
          <c:spPr>
            <a:ln w="19050" cap="rnd" cmpd="sng" algn="ctr">
              <a:solidFill>
                <a:srgbClr val="5B9BD5">
                  <a:lumMod val="75000"/>
                </a:srgbClr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solidFill>
                <a:srgbClr val="5B9BD5">
                  <a:lumMod val="75000"/>
                </a:srgbClr>
              </a:solidFill>
              <a:ln>
                <a:solidFill>
                  <a:srgbClr val="5B9BD5">
                    <a:lumMod val="75000"/>
                  </a:srgb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0.00463101284732596"/>
                  <c:y val="0.03352011457538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delete val="1"/>
            </c:dLbl>
            <c:dLbl>
              <c:idx val="2"/>
              <c:layout>
                <c:manualLayout>
                  <c:x val="-0.0581117418583807"/>
                  <c:y val="0.025174460980972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507917538093815"/>
                  <c:y val="-0.11841038118410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5661786674634"/>
                  <c:y val="-0.031280966683413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119510008963251"/>
                  <c:y val="-0.025952960259529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866447564983567"/>
                  <c:y val="0.060788125175058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676725425754407"/>
                      <c:h val="0.0458370904718966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对比度</c:v>
                </c:pt>
                <c:pt idx="1">
                  <c:v>清晰度</c:v>
                </c:pt>
                <c:pt idx="2">
                  <c:v>色彩</c:v>
                </c:pt>
                <c:pt idx="3">
                  <c:v>降噪</c:v>
                </c:pt>
                <c:pt idx="4">
                  <c:v>LD</c:v>
                </c:pt>
                <c:pt idx="5">
                  <c:v>MEMC</c:v>
                </c:pt>
                <c:pt idx="6">
                  <c:v>HDR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4.25</c:v>
                </c:pt>
                <c:pt idx="2">
                  <c:v>4.5</c:v>
                </c:pt>
                <c:pt idx="3">
                  <c:v>3.5</c:v>
                </c:pt>
                <c:pt idx="4">
                  <c:v>4.5</c:v>
                </c:pt>
                <c:pt idx="5">
                  <c:v>3.5</c:v>
                </c:pt>
                <c:pt idx="6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海信</c:v>
                </c:pt>
              </c:strCache>
            </c:strRef>
          </c:tx>
          <c:spPr>
            <a:ln w="19050" cap="flat" cmpd="sng" algn="ctr">
              <a:solidFill>
                <a:srgbClr val="990000"/>
              </a:solidFill>
              <a:prstDash val="sysDash"/>
              <a:miter lim="800000"/>
            </a:ln>
            <a:effectLst/>
          </c:spPr>
          <c:marker>
            <c:symbol val="circle"/>
            <c:size val="5"/>
            <c:spPr>
              <a:solidFill>
                <a:srgbClr val="990000"/>
              </a:solidFill>
              <a:ln>
                <a:solidFill>
                  <a:srgbClr val="990000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0.00552733791455034"/>
                  <c:y val="0.1163482867840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957573946818046"/>
                  <c:y val="0.079931431764147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106513295488497"/>
                  <c:y val="-0.0078180422162111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0.0089632506722438"/>
                  <c:y val="-0.035685320356853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398864654914849"/>
                  <c:y val="-0.10544377382720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44816253361219"/>
                  <c:y val="-0.006488240064882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194203764565286"/>
                  <c:y val="0.06162336175960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微软雅黑" panose="020B0503020204020204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对比度</c:v>
                </c:pt>
                <c:pt idx="1">
                  <c:v>清晰度</c:v>
                </c:pt>
                <c:pt idx="2">
                  <c:v>色彩</c:v>
                </c:pt>
                <c:pt idx="3">
                  <c:v>降噪</c:v>
                </c:pt>
                <c:pt idx="4">
                  <c:v>LD</c:v>
                </c:pt>
                <c:pt idx="5">
                  <c:v>MEMC</c:v>
                </c:pt>
                <c:pt idx="6">
                  <c:v>HDR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</c:v>
                </c:pt>
                <c:pt idx="1">
                  <c:v>3.7</c:v>
                </c:pt>
                <c:pt idx="2">
                  <c:v>4</c:v>
                </c:pt>
                <c:pt idx="3">
                  <c:v>4</c:v>
                </c:pt>
                <c:pt idx="4">
                  <c:v>3.5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675255838"/>
        <c:axId val="680536633"/>
      </c:radarChart>
      <c:catAx>
        <c:axId val="67525583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680536633"/>
        <c:crosses val="autoZero"/>
        <c:auto val="1"/>
        <c:lblAlgn val="ctr"/>
        <c:lblOffset val="100"/>
        <c:noMultiLvlLbl val="0"/>
      </c:catAx>
      <c:valAx>
        <c:axId val="680536633"/>
        <c:scaling>
          <c:orientation val="minMax"/>
        </c:scaling>
        <c:delete val="1"/>
        <c:axPos val="l"/>
        <c:majorGridlines>
          <c:spPr>
            <a:ln w="6350" cap="flat" cmpd="sng" algn="ctr">
              <a:solidFill>
                <a:srgbClr val="A5A5A5"/>
              </a:solidFill>
              <a:prstDash val="dash"/>
              <a:miter lim="800000"/>
            </a:ln>
            <a:effectLst/>
          </c:spPr>
        </c:majorGridlines>
        <c:numFmt formatCode="General" sourceLinked="1"/>
        <c:majorTickMark val="out"/>
        <c:minorTickMark val="none"/>
        <c:tickLblPos val="low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  <c:crossAx val="675255838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</a:p>
        </c:txPr>
      </c:legendEntry>
      <c:layout>
        <c:manualLayout>
          <c:xMode val="edge"/>
          <c:yMode val="edge"/>
          <c:x val="0.0044816253361219"/>
          <c:y val="0.0048247024766806"/>
          <c:w val="0.991036749327756"/>
          <c:h val="0.061112898037954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0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1000"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1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50196"/>
        </a:schemeClr>
      </a:solidFill>
      <a:ln w="25400">
        <a:solidFill>
          <a:schemeClr val="phClr"/>
        </a:solidFill>
        <a:prstDash val="sysDot"/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>
          <a:alpha val="50196"/>
        </a:schemeClr>
      </a:solidFill>
      <a:ln w="25400">
        <a:solidFill>
          <a:schemeClr val="phClr"/>
        </a:solidFill>
        <a:prstDash val="sysDot"/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5400" cap="rnd" cmpd="sng" algn="ctr">
        <a:solidFill>
          <a:schemeClr val="phClr"/>
        </a:solidFill>
        <a:prstDash val="sysDot"/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鲜艳模式下，每个窗口需要等待稳态后在记录数据</a:t>
            </a:r>
            <a:r>
              <a:rPr lang="en-US" altLang="zh-CN"/>
              <a:t>  </a:t>
            </a:r>
            <a:r>
              <a:rPr lang="zh-CN" altLang="en-US"/>
              <a:t>（稳态峰值亮度）</a:t>
            </a:r>
            <a:r>
              <a:rPr lang="en-US" altLang="zh-CN"/>
              <a:t> 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我司设计逻辑相对简单，５％窗口以下瞬态持续２１秒，进入固定的１５５秒稳态，然后再次进入瞬态，后续不触发就会持续保持稳态，结合竞品设计了新的瞬态设计规范，现在硬件再摸，争取发挥硬件最大</a:t>
            </a:r>
            <a:r>
              <a:rPr lang="zh-CN" altLang="en-US"/>
              <a:t>性能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tags" Target="../tags/tag25.xml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tags" Target="../tags/tag52.xml"/><Relationship Id="rId20" Type="http://schemas.openxmlformats.org/officeDocument/2006/relationships/tags" Target="../tags/tag51.xml"/><Relationship Id="rId2" Type="http://schemas.openxmlformats.org/officeDocument/2006/relationships/tags" Target="../tags/tag33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5" Type="http://schemas.openxmlformats.org/officeDocument/2006/relationships/tags" Target="../tags/tag114.xml"/><Relationship Id="rId24" Type="http://schemas.openxmlformats.org/officeDocument/2006/relationships/tags" Target="../tags/tag113.xml"/><Relationship Id="rId23" Type="http://schemas.openxmlformats.org/officeDocument/2006/relationships/tags" Target="../tags/tag112.xml"/><Relationship Id="rId22" Type="http://schemas.openxmlformats.org/officeDocument/2006/relationships/tags" Target="../tags/tag111.xml"/><Relationship Id="rId21" Type="http://schemas.openxmlformats.org/officeDocument/2006/relationships/tags" Target="../tags/tag110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0" Type="http://schemas.openxmlformats.org/officeDocument/2006/relationships/tags" Target="../tags/tag168.xml"/><Relationship Id="rId2" Type="http://schemas.openxmlformats.org/officeDocument/2006/relationships/tags" Target="../tags/tag150.xml"/><Relationship Id="rId19" Type="http://schemas.openxmlformats.org/officeDocument/2006/relationships/tags" Target="../tags/tag167.xml"/><Relationship Id="rId18" Type="http://schemas.openxmlformats.org/officeDocument/2006/relationships/tags" Target="../tags/tag166.xml"/><Relationship Id="rId17" Type="http://schemas.openxmlformats.org/officeDocument/2006/relationships/tags" Target="../tags/tag165.xml"/><Relationship Id="rId16" Type="http://schemas.openxmlformats.org/officeDocument/2006/relationships/tags" Target="../tags/tag164.xml"/><Relationship Id="rId15" Type="http://schemas.openxmlformats.org/officeDocument/2006/relationships/tags" Target="../tags/tag163.xml"/><Relationship Id="rId14" Type="http://schemas.openxmlformats.org/officeDocument/2006/relationships/tags" Target="../tags/tag162.xml"/><Relationship Id="rId13" Type="http://schemas.openxmlformats.org/officeDocument/2006/relationships/tags" Target="../tags/tag161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0" Type="http://schemas.openxmlformats.org/officeDocument/2006/relationships/tags" Target="../tags/tag187.xml"/><Relationship Id="rId2" Type="http://schemas.openxmlformats.org/officeDocument/2006/relationships/tags" Target="../tags/tag169.xml"/><Relationship Id="rId19" Type="http://schemas.openxmlformats.org/officeDocument/2006/relationships/tags" Target="../tags/tag186.xml"/><Relationship Id="rId18" Type="http://schemas.openxmlformats.org/officeDocument/2006/relationships/tags" Target="../tags/tag185.xml"/><Relationship Id="rId17" Type="http://schemas.openxmlformats.org/officeDocument/2006/relationships/tags" Target="../tags/tag184.xml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tags" Target="../tags/tag181.xml"/><Relationship Id="rId13" Type="http://schemas.openxmlformats.org/officeDocument/2006/relationships/tags" Target="../tags/tag180.xml"/><Relationship Id="rId12" Type="http://schemas.openxmlformats.org/officeDocument/2006/relationships/tags" Target="../tags/tag179.xml"/><Relationship Id="rId11" Type="http://schemas.openxmlformats.org/officeDocument/2006/relationships/tags" Target="../tags/tag178.xml"/><Relationship Id="rId10" Type="http://schemas.openxmlformats.org/officeDocument/2006/relationships/tags" Target="../tags/tag177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结合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748609" y="1699063"/>
            <a:ext cx="4443955" cy="46437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图文结合 这里是文字主题</a:t>
            </a:r>
            <a:r>
              <a:rPr kumimoji="1" lang="en-US" altLang="zh-CN" dirty="0"/>
              <a:t>18</a:t>
            </a:r>
            <a:r>
              <a:rPr kumimoji="1" lang="zh-CN" altLang="en-US" dirty="0"/>
              <a:t>号</a:t>
            </a:r>
            <a:endParaRPr kumimoji="1" lang="zh-CN" altLang="en-US" dirty="0"/>
          </a:p>
        </p:txBody>
      </p:sp>
      <p:sp>
        <p:nvSpPr>
          <p:cNvPr id="8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748608" y="2377444"/>
            <a:ext cx="4443955" cy="14094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900"/>
              </a:lnSpc>
              <a:buNone/>
              <a:defRPr sz="1465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这里是一段解释说明文字，这里是一段解释说明文字，这里是一段解释说明文字，这里是一段解释说明文字 </a:t>
            </a:r>
            <a:r>
              <a:rPr kumimoji="1" lang="en-US" altLang="zh-CN" dirty="0"/>
              <a:t>11</a:t>
            </a:r>
            <a:r>
              <a:rPr kumimoji="1" lang="zh-CN" altLang="en-US" dirty="0"/>
              <a:t>号</a:t>
            </a:r>
            <a:endParaRPr kumimoji="1" lang="zh-CN" altLang="en-US" dirty="0"/>
          </a:p>
        </p:txBody>
      </p:sp>
      <p:sp>
        <p:nvSpPr>
          <p:cNvPr id="10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748609" y="3796035"/>
            <a:ext cx="2800879" cy="120421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0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7999</a:t>
            </a:r>
            <a:endParaRPr kumimoji="1" lang="zh-CN" altLang="en-US" dirty="0"/>
          </a:p>
        </p:txBody>
      </p:sp>
      <p:pic>
        <p:nvPicPr>
          <p:cNvPr id="12" name="图片 11" descr="20190402-AIoT 中-RGB-彩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691" y="6372520"/>
            <a:ext cx="708076" cy="481739"/>
          </a:xfrm>
          <a:prstGeom prst="rect">
            <a:avLst/>
          </a:prstGeom>
        </p:spPr>
      </p:pic>
      <p:pic>
        <p:nvPicPr>
          <p:cNvPr id="13" name="图片 12" descr="20190402-SKYWORTH 创导未来 中-03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37" y="21481"/>
            <a:ext cx="1222627" cy="390912"/>
          </a:xfrm>
          <a:prstGeom prst="rect">
            <a:avLst/>
          </a:prstGeom>
        </p:spPr>
      </p:pic>
      <p:sp>
        <p:nvSpPr>
          <p:cNvPr id="14" name="文本占位符 10"/>
          <p:cNvSpPr>
            <a:spLocks noGrp="1"/>
          </p:cNvSpPr>
          <p:nvPr>
            <p:ph type="body" sz="quarter" idx="15" hasCustomPrompt="1"/>
          </p:nvPr>
        </p:nvSpPr>
        <p:spPr>
          <a:xfrm>
            <a:off x="3327343" y="4526392"/>
            <a:ext cx="1681020" cy="5970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900"/>
              </a:lnSpc>
              <a:buNone/>
              <a:defRPr sz="1465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元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2540"/>
            <a:ext cx="12192000" cy="6858000"/>
          </a:xfrm>
          <a:prstGeom prst="rect">
            <a:avLst/>
          </a:prstGeom>
        </p:spPr>
      </p:pic>
      <p:pic>
        <p:nvPicPr>
          <p:cNvPr id="6" name="图片 5" descr="20190402-AIoT 中-RGB-彩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683" y="6058293"/>
            <a:ext cx="1099932" cy="748339"/>
          </a:xfrm>
          <a:prstGeom prst="rect">
            <a:avLst/>
          </a:prstGeom>
        </p:spPr>
      </p:pic>
      <p:pic>
        <p:nvPicPr>
          <p:cNvPr id="8" name="图片 7" descr="20190402-SKYWORTH 创导未来 中-03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088" y="21481"/>
            <a:ext cx="2056161" cy="657419"/>
          </a:xfrm>
          <a:prstGeom prst="rect">
            <a:avLst/>
          </a:prstGeom>
        </p:spPr>
      </p:pic>
      <p:sp>
        <p:nvSpPr>
          <p:cNvPr id="12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1294308" y="2477104"/>
            <a:ext cx="9652179" cy="115397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5335" b="0" i="0">
                <a:solidFill>
                  <a:srgbClr val="41B2D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演讲主题 </a:t>
            </a:r>
            <a:r>
              <a:rPr kumimoji="1" lang="en-US" altLang="zh-CN" dirty="0"/>
              <a:t>40</a:t>
            </a:r>
            <a:r>
              <a:rPr kumimoji="1" lang="zh-CN" altLang="en-US" dirty="0"/>
              <a:t>号 </a:t>
            </a:r>
            <a:r>
              <a:rPr kumimoji="1" lang="en-US" altLang="zh-CN" dirty="0" err="1"/>
              <a:t>AIoT</a:t>
            </a:r>
            <a:r>
              <a:rPr kumimoji="1" lang="zh-CN" altLang="en-US" dirty="0"/>
              <a:t>蓝</a:t>
            </a:r>
            <a:endParaRPr kumimoji="1" lang="zh-CN" altLang="en-US" dirty="0"/>
          </a:p>
        </p:txBody>
      </p:sp>
      <p:sp>
        <p:nvSpPr>
          <p:cNvPr id="15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1294308" y="3709845"/>
            <a:ext cx="9652179" cy="57472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 i="0">
                <a:solidFill>
                  <a:srgbClr val="41B2D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作者信息 </a:t>
            </a:r>
            <a:r>
              <a:rPr kumimoji="1" lang="en-US" altLang="zh-CN" dirty="0"/>
              <a:t>12</a:t>
            </a:r>
            <a:r>
              <a:rPr kumimoji="1" lang="zh-CN" altLang="en-US" dirty="0"/>
              <a:t>号 </a:t>
            </a:r>
            <a:r>
              <a:rPr kumimoji="1" lang="en-US" altLang="zh-CN" dirty="0" err="1"/>
              <a:t>AIoT</a:t>
            </a:r>
            <a:r>
              <a:rPr kumimoji="1" lang="zh-CN" altLang="en-US" dirty="0"/>
              <a:t>蓝</a:t>
            </a:r>
            <a:endParaRPr kumimoji="1" lang="zh-CN" altLang="en-US" dirty="0"/>
          </a:p>
        </p:txBody>
      </p:sp>
      <p:sp>
        <p:nvSpPr>
          <p:cNvPr id="18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118009" y="6450833"/>
            <a:ext cx="9652179" cy="287260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065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19 March,2018  </a:t>
            </a:r>
            <a:r>
              <a:rPr kumimoji="1" lang="zh-CN" altLang="en-US" dirty="0"/>
              <a:t>日期</a:t>
            </a:r>
            <a:r>
              <a:rPr kumimoji="1" lang="en-US" altLang="zh-CN" dirty="0"/>
              <a:t>8</a:t>
            </a:r>
            <a:r>
              <a:rPr kumimoji="1" lang="zh-CN" altLang="en-US" dirty="0"/>
              <a:t>号 </a:t>
            </a:r>
            <a:r>
              <a:rPr kumimoji="1" lang="en-US" altLang="zh-CN" dirty="0"/>
              <a:t>70%</a:t>
            </a:r>
            <a:r>
              <a:rPr kumimoji="1" lang="zh-CN" altLang="en-US" dirty="0"/>
              <a:t>黑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>
            <p:custDataLst>
              <p:tags r:id="rId2"/>
            </p:custDataLst>
          </p:nvPr>
        </p:nvSpPr>
        <p:spPr>
          <a:xfrm>
            <a:off x="8479422" y="4726875"/>
            <a:ext cx="2160001" cy="2954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9577065" y="4755401"/>
            <a:ext cx="1032934" cy="2390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 rot="10800000">
            <a:off x="5312130" y="-7535"/>
            <a:ext cx="2286000" cy="2342337"/>
          </a:xfrm>
          <a:custGeom>
            <a:avLst/>
            <a:gdLst>
              <a:gd name="connsiteX0" fmla="*/ 2286000 w 2286000"/>
              <a:gd name="connsiteY0" fmla="*/ 2342337 h 2342337"/>
              <a:gd name="connsiteX1" fmla="*/ 0 w 2286000"/>
              <a:gd name="connsiteY1" fmla="*/ 2342337 h 2342337"/>
              <a:gd name="connsiteX2" fmla="*/ 0 w 2286000"/>
              <a:gd name="connsiteY2" fmla="*/ 0 h 2342337"/>
              <a:gd name="connsiteX3" fmla="*/ 2286000 w 2286000"/>
              <a:gd name="connsiteY3" fmla="*/ 0 h 2342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6000" h="2342337">
                <a:moveTo>
                  <a:pt x="2286000" y="2342337"/>
                </a:moveTo>
                <a:lnTo>
                  <a:pt x="0" y="2342337"/>
                </a:lnTo>
                <a:lnTo>
                  <a:pt x="0" y="0"/>
                </a:lnTo>
                <a:lnTo>
                  <a:pt x="2286000" y="0"/>
                </a:lnTo>
                <a:close/>
              </a:path>
            </a:pathLst>
          </a:custGeom>
        </p:spPr>
      </p:pic>
      <p:grpSp>
        <p:nvGrpSpPr>
          <p:cNvPr id="80" name="组合 79"/>
          <p:cNvGrpSpPr/>
          <p:nvPr userDrawn="1">
            <p:custDataLst>
              <p:tags r:id="rId6"/>
            </p:custDataLst>
          </p:nvPr>
        </p:nvGrpSpPr>
        <p:grpSpPr>
          <a:xfrm>
            <a:off x="-3447" y="-189"/>
            <a:ext cx="4675187" cy="6856525"/>
            <a:chOff x="-3447" y="-189"/>
            <a:chExt cx="4675187" cy="6856525"/>
          </a:xfrm>
          <a:solidFill>
            <a:schemeClr val="accent1"/>
          </a:solidFill>
        </p:grpSpPr>
        <p:sp>
          <p:nvSpPr>
            <p:cNvPr id="7" name="流程图: 文档 6"/>
            <p:cNvSpPr/>
            <p:nvPr userDrawn="1">
              <p:custDataLst>
                <p:tags r:id="rId7"/>
              </p:custDataLst>
            </p:nvPr>
          </p:nvSpPr>
          <p:spPr>
            <a:xfrm rot="16200000">
              <a:off x="-872533" y="1312062"/>
              <a:ext cx="6856524" cy="4232023"/>
            </a:xfrm>
            <a:prstGeom prst="flowChartDocumen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: 形状 65"/>
            <p:cNvSpPr/>
            <p:nvPr userDrawn="1">
              <p:custDataLst>
                <p:tags r:id="rId8"/>
              </p:custDataLst>
            </p:nvPr>
          </p:nvSpPr>
          <p:spPr>
            <a:xfrm>
              <a:off x="0" y="1"/>
              <a:ext cx="4559301" cy="6855293"/>
            </a:xfrm>
            <a:custGeom>
              <a:avLst/>
              <a:gdLst>
                <a:gd name="connsiteX0" fmla="*/ 0 w 4559301"/>
                <a:gd name="connsiteY0" fmla="*/ 0 h 6855293"/>
                <a:gd name="connsiteX1" fmla="*/ 3762289 w 4559301"/>
                <a:gd name="connsiteY1" fmla="*/ 0 h 6855293"/>
                <a:gd name="connsiteX2" fmla="*/ 3765029 w 4559301"/>
                <a:gd name="connsiteY2" fmla="*/ 230702 h 6855293"/>
                <a:gd name="connsiteX3" fmla="*/ 4391808 w 4559301"/>
                <a:gd name="connsiteY3" fmla="*/ 6560195 h 6855293"/>
                <a:gd name="connsiteX4" fmla="*/ 4331769 w 4559301"/>
                <a:gd name="connsiteY4" fmla="*/ 6855293 h 6855293"/>
                <a:gd name="connsiteX5" fmla="*/ 0 w 4559301"/>
                <a:gd name="connsiteY5" fmla="*/ 6855293 h 6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59301" h="6855293">
                  <a:moveTo>
                    <a:pt x="0" y="0"/>
                  </a:moveTo>
                  <a:lnTo>
                    <a:pt x="3762289" y="0"/>
                  </a:lnTo>
                  <a:lnTo>
                    <a:pt x="3765029" y="230702"/>
                  </a:lnTo>
                  <a:cubicBezTo>
                    <a:pt x="3839114" y="3295200"/>
                    <a:pt x="4979109" y="3489718"/>
                    <a:pt x="4391808" y="6560195"/>
                  </a:cubicBezTo>
                  <a:lnTo>
                    <a:pt x="4331769" y="6855293"/>
                  </a:lnTo>
                  <a:lnTo>
                    <a:pt x="0" y="68552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/>
            <p:cNvSpPr/>
            <p:nvPr>
              <p:custDataLst>
                <p:tags r:id="rId9"/>
              </p:custDataLst>
            </p:nvPr>
          </p:nvSpPr>
          <p:spPr>
            <a:xfrm>
              <a:off x="672465" y="606425"/>
              <a:ext cx="670560" cy="670560"/>
            </a:xfrm>
            <a:prstGeom prst="roundRect">
              <a:avLst/>
            </a:prstGeom>
            <a:grpFill/>
            <a:ln w="15875">
              <a:solidFill>
                <a:schemeClr val="bg1">
                  <a:alpha val="4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任意多边形: 形状 59"/>
            <p:cNvSpPr/>
            <p:nvPr>
              <p:custDataLst>
                <p:tags r:id="rId10"/>
              </p:custDataLst>
            </p:nvPr>
          </p:nvSpPr>
          <p:spPr>
            <a:xfrm>
              <a:off x="-3447" y="-189"/>
              <a:ext cx="1010557" cy="1043494"/>
            </a:xfrm>
            <a:custGeom>
              <a:avLst/>
              <a:gdLst>
                <a:gd name="connsiteX0" fmla="*/ 0 w 1010557"/>
                <a:gd name="connsiteY0" fmla="*/ 0 h 1043494"/>
                <a:gd name="connsiteX1" fmla="*/ 1010557 w 1010557"/>
                <a:gd name="connsiteY1" fmla="*/ 0 h 1043494"/>
                <a:gd name="connsiteX2" fmla="*/ 1010557 w 1010557"/>
                <a:gd name="connsiteY2" fmla="*/ 820287 h 1043494"/>
                <a:gd name="connsiteX3" fmla="*/ 787350 w 1010557"/>
                <a:gd name="connsiteY3" fmla="*/ 1043494 h 1043494"/>
                <a:gd name="connsiteX4" fmla="*/ 0 w 1010557"/>
                <a:gd name="connsiteY4" fmla="*/ 1043494 h 1043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557" h="1043494">
                  <a:moveTo>
                    <a:pt x="0" y="0"/>
                  </a:moveTo>
                  <a:lnTo>
                    <a:pt x="1010557" y="0"/>
                  </a:lnTo>
                  <a:lnTo>
                    <a:pt x="1010557" y="820287"/>
                  </a:lnTo>
                  <a:cubicBezTo>
                    <a:pt x="1010557" y="943561"/>
                    <a:pt x="910624" y="1043494"/>
                    <a:pt x="787350" y="1043494"/>
                  </a:cubicBezTo>
                  <a:lnTo>
                    <a:pt x="0" y="1043494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/>
            <p:cNvSpPr/>
            <p:nvPr>
              <p:custDataLst>
                <p:tags r:id="rId11"/>
              </p:custDataLst>
            </p:nvPr>
          </p:nvSpPr>
          <p:spPr>
            <a:xfrm>
              <a:off x="1474470" y="-189"/>
              <a:ext cx="813435" cy="624394"/>
            </a:xfrm>
            <a:custGeom>
              <a:avLst/>
              <a:gdLst>
                <a:gd name="connsiteX0" fmla="*/ 0 w 813435"/>
                <a:gd name="connsiteY0" fmla="*/ 0 h 624394"/>
                <a:gd name="connsiteX1" fmla="*/ 813435 w 813435"/>
                <a:gd name="connsiteY1" fmla="*/ 0 h 624394"/>
                <a:gd name="connsiteX2" fmla="*/ 813435 w 813435"/>
                <a:gd name="connsiteY2" fmla="*/ 488819 h 624394"/>
                <a:gd name="connsiteX3" fmla="*/ 677860 w 813435"/>
                <a:gd name="connsiteY3" fmla="*/ 624394 h 624394"/>
                <a:gd name="connsiteX4" fmla="*/ 135575 w 813435"/>
                <a:gd name="connsiteY4" fmla="*/ 624394 h 624394"/>
                <a:gd name="connsiteX5" fmla="*/ 0 w 813435"/>
                <a:gd name="connsiteY5" fmla="*/ 488819 h 6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435" h="624394">
                  <a:moveTo>
                    <a:pt x="0" y="0"/>
                  </a:moveTo>
                  <a:lnTo>
                    <a:pt x="813435" y="0"/>
                  </a:lnTo>
                  <a:lnTo>
                    <a:pt x="813435" y="488819"/>
                  </a:lnTo>
                  <a:cubicBezTo>
                    <a:pt x="813435" y="563695"/>
                    <a:pt x="752736" y="624394"/>
                    <a:pt x="677860" y="624394"/>
                  </a:cubicBezTo>
                  <a:lnTo>
                    <a:pt x="135575" y="624394"/>
                  </a:lnTo>
                  <a:cubicBezTo>
                    <a:pt x="60699" y="624394"/>
                    <a:pt x="0" y="563695"/>
                    <a:pt x="0" y="488819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/>
            <p:cNvSpPr/>
            <p:nvPr>
              <p:custDataLst>
                <p:tags r:id="rId12"/>
              </p:custDataLst>
            </p:nvPr>
          </p:nvSpPr>
          <p:spPr>
            <a:xfrm>
              <a:off x="2493645" y="353060"/>
              <a:ext cx="659130" cy="659130"/>
            </a:xfrm>
            <a:prstGeom prst="roundRect">
              <a:avLst/>
            </a:prstGeom>
            <a:grpFill/>
            <a:ln w="15875">
              <a:solidFill>
                <a:schemeClr val="bg1"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/>
            <p:cNvSpPr/>
            <p:nvPr>
              <p:custDataLst>
                <p:tags r:id="rId13"/>
              </p:custDataLst>
            </p:nvPr>
          </p:nvSpPr>
          <p:spPr>
            <a:xfrm>
              <a:off x="-3447" y="1544320"/>
              <a:ext cx="284752" cy="504190"/>
            </a:xfrm>
            <a:custGeom>
              <a:avLst/>
              <a:gdLst>
                <a:gd name="connsiteX0" fmla="*/ 0 w 284752"/>
                <a:gd name="connsiteY0" fmla="*/ 0 h 504190"/>
                <a:gd name="connsiteX1" fmla="*/ 200719 w 284752"/>
                <a:gd name="connsiteY1" fmla="*/ 0 h 504190"/>
                <a:gd name="connsiteX2" fmla="*/ 284752 w 284752"/>
                <a:gd name="connsiteY2" fmla="*/ 84033 h 504190"/>
                <a:gd name="connsiteX3" fmla="*/ 284752 w 284752"/>
                <a:gd name="connsiteY3" fmla="*/ 420157 h 504190"/>
                <a:gd name="connsiteX4" fmla="*/ 200719 w 284752"/>
                <a:gd name="connsiteY4" fmla="*/ 504190 h 504190"/>
                <a:gd name="connsiteX5" fmla="*/ 0 w 284752"/>
                <a:gd name="connsiteY5" fmla="*/ 504190 h 50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752" h="504190">
                  <a:moveTo>
                    <a:pt x="0" y="0"/>
                  </a:moveTo>
                  <a:lnTo>
                    <a:pt x="200719" y="0"/>
                  </a:lnTo>
                  <a:cubicBezTo>
                    <a:pt x="247129" y="0"/>
                    <a:pt x="284752" y="37623"/>
                    <a:pt x="284752" y="84033"/>
                  </a:cubicBezTo>
                  <a:lnTo>
                    <a:pt x="284752" y="420157"/>
                  </a:lnTo>
                  <a:cubicBezTo>
                    <a:pt x="284752" y="466567"/>
                    <a:pt x="247129" y="504190"/>
                    <a:pt x="200719" y="504190"/>
                  </a:cubicBezTo>
                  <a:lnTo>
                    <a:pt x="0" y="504190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4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/>
            <p:cNvSpPr/>
            <p:nvPr>
              <p:custDataLst>
                <p:tags r:id="rId14"/>
              </p:custDataLst>
            </p:nvPr>
          </p:nvSpPr>
          <p:spPr>
            <a:xfrm>
              <a:off x="2707640" y="624205"/>
              <a:ext cx="876300" cy="876300"/>
            </a:xfrm>
            <a:prstGeom prst="roundRect">
              <a:avLst/>
            </a:prstGeom>
            <a:grpFill/>
            <a:ln w="15875">
              <a:solidFill>
                <a:schemeClr val="bg1">
                  <a:alpha val="4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>
              <p:custDataLst>
                <p:tags r:id="rId15"/>
              </p:custDataLst>
            </p:nvPr>
          </p:nvSpPr>
          <p:spPr>
            <a:xfrm>
              <a:off x="1605280" y="1115060"/>
              <a:ext cx="402590" cy="402590"/>
            </a:xfrm>
            <a:prstGeom prst="roundRect">
              <a:avLst/>
            </a:prstGeom>
            <a:grpFill/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/>
            <p:cNvSpPr/>
            <p:nvPr>
              <p:custDataLst>
                <p:tags r:id="rId16"/>
              </p:custDataLst>
            </p:nvPr>
          </p:nvSpPr>
          <p:spPr>
            <a:xfrm>
              <a:off x="169545" y="1916430"/>
              <a:ext cx="402590" cy="432435"/>
            </a:xfrm>
            <a:prstGeom prst="roundRect">
              <a:avLst/>
            </a:prstGeom>
            <a:grpFill/>
            <a:ln w="15875">
              <a:solidFill>
                <a:schemeClr val="bg1">
                  <a:alpha val="4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任意多边形: 形状 71"/>
            <p:cNvSpPr/>
            <p:nvPr>
              <p:custDataLst>
                <p:tags r:id="rId17"/>
              </p:custDataLst>
            </p:nvPr>
          </p:nvSpPr>
          <p:spPr>
            <a:xfrm>
              <a:off x="885825" y="6346190"/>
              <a:ext cx="893445" cy="505682"/>
            </a:xfrm>
            <a:custGeom>
              <a:avLst/>
              <a:gdLst>
                <a:gd name="connsiteX0" fmla="*/ 148910 w 893445"/>
                <a:gd name="connsiteY0" fmla="*/ 0 h 505682"/>
                <a:gd name="connsiteX1" fmla="*/ 744535 w 893445"/>
                <a:gd name="connsiteY1" fmla="*/ 0 h 505682"/>
                <a:gd name="connsiteX2" fmla="*/ 893445 w 893445"/>
                <a:gd name="connsiteY2" fmla="*/ 148910 h 505682"/>
                <a:gd name="connsiteX3" fmla="*/ 893445 w 893445"/>
                <a:gd name="connsiteY3" fmla="*/ 505682 h 505682"/>
                <a:gd name="connsiteX4" fmla="*/ 0 w 893445"/>
                <a:gd name="connsiteY4" fmla="*/ 505682 h 505682"/>
                <a:gd name="connsiteX5" fmla="*/ 0 w 893445"/>
                <a:gd name="connsiteY5" fmla="*/ 148910 h 505682"/>
                <a:gd name="connsiteX6" fmla="*/ 148910 w 893445"/>
                <a:gd name="connsiteY6" fmla="*/ 0 h 505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505682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505682"/>
                  </a:lnTo>
                  <a:lnTo>
                    <a:pt x="0" y="505682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5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69" name="任意多边形: 形状 68"/>
            <p:cNvSpPr/>
            <p:nvPr>
              <p:custDataLst>
                <p:tags r:id="rId18"/>
              </p:custDataLst>
            </p:nvPr>
          </p:nvSpPr>
          <p:spPr>
            <a:xfrm>
              <a:off x="0" y="5970905"/>
              <a:ext cx="1332230" cy="880967"/>
            </a:xfrm>
            <a:custGeom>
              <a:avLst/>
              <a:gdLst>
                <a:gd name="connsiteX0" fmla="*/ 0 w 1332230"/>
                <a:gd name="connsiteY0" fmla="*/ 0 h 880967"/>
                <a:gd name="connsiteX1" fmla="*/ 1034727 w 1332230"/>
                <a:gd name="connsiteY1" fmla="*/ 0 h 880967"/>
                <a:gd name="connsiteX2" fmla="*/ 1332230 w 1332230"/>
                <a:gd name="connsiteY2" fmla="*/ 297503 h 880967"/>
                <a:gd name="connsiteX3" fmla="*/ 1332230 w 1332230"/>
                <a:gd name="connsiteY3" fmla="*/ 880967 h 880967"/>
                <a:gd name="connsiteX4" fmla="*/ 0 w 1332230"/>
                <a:gd name="connsiteY4" fmla="*/ 880967 h 88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2230" h="880967">
                  <a:moveTo>
                    <a:pt x="0" y="0"/>
                  </a:moveTo>
                  <a:lnTo>
                    <a:pt x="1034727" y="0"/>
                  </a:lnTo>
                  <a:cubicBezTo>
                    <a:pt x="1199033" y="0"/>
                    <a:pt x="1332230" y="133197"/>
                    <a:pt x="1332230" y="297503"/>
                  </a:cubicBezTo>
                  <a:lnTo>
                    <a:pt x="1332230" y="880967"/>
                  </a:lnTo>
                  <a:lnTo>
                    <a:pt x="0" y="880967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6" name="任意多边形: 形状 75"/>
            <p:cNvSpPr/>
            <p:nvPr userDrawn="1">
              <p:custDataLst>
                <p:tags r:id="rId19"/>
              </p:custDataLst>
            </p:nvPr>
          </p:nvSpPr>
          <p:spPr>
            <a:xfrm>
              <a:off x="2136605" y="6588125"/>
              <a:ext cx="1771355" cy="263747"/>
            </a:xfrm>
            <a:custGeom>
              <a:avLst/>
              <a:gdLst>
                <a:gd name="connsiteX0" fmla="*/ 290688 w 1771355"/>
                <a:gd name="connsiteY0" fmla="*/ 0 h 263747"/>
                <a:gd name="connsiteX1" fmla="*/ 1480667 w 1771355"/>
                <a:gd name="connsiteY1" fmla="*/ 0 h 263747"/>
                <a:gd name="connsiteX2" fmla="*/ 1754791 w 1771355"/>
                <a:gd name="connsiteY2" fmla="*/ 181702 h 263747"/>
                <a:gd name="connsiteX3" fmla="*/ 1771355 w 1771355"/>
                <a:gd name="connsiteY3" fmla="*/ 263747 h 263747"/>
                <a:gd name="connsiteX4" fmla="*/ 0 w 1771355"/>
                <a:gd name="connsiteY4" fmla="*/ 263747 h 263747"/>
                <a:gd name="connsiteX5" fmla="*/ 16564 w 1771355"/>
                <a:gd name="connsiteY5" fmla="*/ 181702 h 263747"/>
                <a:gd name="connsiteX6" fmla="*/ 290688 w 1771355"/>
                <a:gd name="connsiteY6" fmla="*/ 0 h 26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355" h="263747">
                  <a:moveTo>
                    <a:pt x="290688" y="0"/>
                  </a:moveTo>
                  <a:lnTo>
                    <a:pt x="1480667" y="0"/>
                  </a:lnTo>
                  <a:cubicBezTo>
                    <a:pt x="1603897" y="0"/>
                    <a:pt x="1709627" y="74924"/>
                    <a:pt x="1754791" y="181702"/>
                  </a:cubicBezTo>
                  <a:lnTo>
                    <a:pt x="1771355" y="263747"/>
                  </a:lnTo>
                  <a:lnTo>
                    <a:pt x="0" y="263747"/>
                  </a:lnTo>
                  <a:lnTo>
                    <a:pt x="16564" y="181702"/>
                  </a:lnTo>
                  <a:cubicBezTo>
                    <a:pt x="61728" y="74924"/>
                    <a:pt x="167459" y="0"/>
                    <a:pt x="290688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8" name="任意多边形: 形状 77"/>
            <p:cNvSpPr/>
            <p:nvPr>
              <p:custDataLst>
                <p:tags r:id="rId20"/>
              </p:custDataLst>
            </p:nvPr>
          </p:nvSpPr>
          <p:spPr>
            <a:xfrm>
              <a:off x="3397885" y="6395720"/>
              <a:ext cx="727710" cy="456152"/>
            </a:xfrm>
            <a:custGeom>
              <a:avLst/>
              <a:gdLst>
                <a:gd name="connsiteX0" fmla="*/ 121287 w 727710"/>
                <a:gd name="connsiteY0" fmla="*/ 0 h 456152"/>
                <a:gd name="connsiteX1" fmla="*/ 606423 w 727710"/>
                <a:gd name="connsiteY1" fmla="*/ 0 h 456152"/>
                <a:gd name="connsiteX2" fmla="*/ 727710 w 727710"/>
                <a:gd name="connsiteY2" fmla="*/ 121287 h 456152"/>
                <a:gd name="connsiteX3" fmla="*/ 727710 w 727710"/>
                <a:gd name="connsiteY3" fmla="*/ 456152 h 456152"/>
                <a:gd name="connsiteX4" fmla="*/ 0 w 727710"/>
                <a:gd name="connsiteY4" fmla="*/ 456152 h 456152"/>
                <a:gd name="connsiteX5" fmla="*/ 0 w 727710"/>
                <a:gd name="connsiteY5" fmla="*/ 121287 h 456152"/>
                <a:gd name="connsiteX6" fmla="*/ 121287 w 727710"/>
                <a:gd name="connsiteY6" fmla="*/ 0 h 4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7710" h="456152">
                  <a:moveTo>
                    <a:pt x="121287" y="0"/>
                  </a:moveTo>
                  <a:lnTo>
                    <a:pt x="606423" y="0"/>
                  </a:lnTo>
                  <a:cubicBezTo>
                    <a:pt x="673408" y="0"/>
                    <a:pt x="727710" y="54302"/>
                    <a:pt x="727710" y="121287"/>
                  </a:cubicBezTo>
                  <a:lnTo>
                    <a:pt x="727710" y="456152"/>
                  </a:lnTo>
                  <a:lnTo>
                    <a:pt x="0" y="456152"/>
                  </a:lnTo>
                  <a:lnTo>
                    <a:pt x="0" y="121287"/>
                  </a:lnTo>
                  <a:cubicBezTo>
                    <a:pt x="0" y="54302"/>
                    <a:pt x="54302" y="0"/>
                    <a:pt x="121287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日期占位符 15"/>
          <p:cNvSpPr>
            <a:spLocks noGrp="1"/>
          </p:cNvSpPr>
          <p:nvPr userDrawn="1">
            <p:ph type="dt" sz="half" idx="10"/>
            <p:custDataLst>
              <p:tags r:id="rId2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 userDrawn="1">
            <p:ph type="ftr" sz="quarter" idx="11"/>
            <p:custDataLst>
              <p:tags r:id="rId2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 userDrawn="1">
            <p:ph type="sldNum" sz="quarter" idx="12"/>
            <p:custDataLst>
              <p:tags r:id="rId2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24"/>
            </p:custDataLst>
          </p:nvPr>
        </p:nvSpPr>
        <p:spPr>
          <a:xfrm>
            <a:off x="5003801" y="2779449"/>
            <a:ext cx="6369050" cy="942095"/>
          </a:xfrm>
        </p:spPr>
        <p:txBody>
          <a:bodyPr lIns="90000" tIns="0" rIns="90000" bIns="46800" anchor="t" anchorCtr="0">
            <a:normAutofit/>
          </a:bodyPr>
          <a:lstStyle>
            <a:lvl1pPr algn="ctr">
              <a:defRPr sz="5400" spc="6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25"/>
            </p:custDataLst>
          </p:nvPr>
        </p:nvSpPr>
        <p:spPr>
          <a:xfrm>
            <a:off x="4999018" y="2172371"/>
            <a:ext cx="6373833" cy="571384"/>
          </a:xfrm>
        </p:spPr>
        <p:txBody>
          <a:bodyPr lIns="90000" tIns="46800" rIns="90000" bIns="0" anchor="b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accent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 userDrawn="1">
            <p:ph type="body" sz="quarter" idx="13"/>
            <p:custDataLst>
              <p:tags r:id="rId26"/>
            </p:custDataLst>
          </p:nvPr>
        </p:nvSpPr>
        <p:spPr>
          <a:xfrm>
            <a:off x="7408546" y="3760360"/>
            <a:ext cx="3230878" cy="396000"/>
          </a:xfrm>
        </p:spPr>
        <p:txBody>
          <a:bodyPr lIns="90000" tIns="46800" rIns="90000" bIns="0" anchor="b" anchorCtr="0">
            <a:normAutofit/>
          </a:bodyPr>
          <a:lstStyle>
            <a:lvl1pPr marL="0" indent="0" algn="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6" name="文本占位符 35"/>
          <p:cNvSpPr>
            <a:spLocks noGrp="1"/>
          </p:cNvSpPr>
          <p:nvPr userDrawn="1">
            <p:ph type="body" sz="quarter" idx="14"/>
            <p:custDataLst>
              <p:tags r:id="rId27"/>
            </p:custDataLst>
          </p:nvPr>
        </p:nvSpPr>
        <p:spPr>
          <a:xfrm>
            <a:off x="7408545" y="4206840"/>
            <a:ext cx="3230878" cy="396000"/>
          </a:xfrm>
        </p:spPr>
        <p:txBody>
          <a:bodyPr lIns="90000" tIns="0" rIns="90000" bIns="46800">
            <a:normAutofit/>
          </a:bodyPr>
          <a:lstStyle>
            <a:lvl1pPr marL="0" indent="0" algn="r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38" name="文本占位符 37"/>
          <p:cNvSpPr>
            <a:spLocks noGrp="1"/>
          </p:cNvSpPr>
          <p:nvPr userDrawn="1">
            <p:ph type="body" sz="quarter" idx="15" hasCustomPrompt="1"/>
            <p:custDataLst>
              <p:tags r:id="rId28"/>
            </p:custDataLst>
          </p:nvPr>
        </p:nvSpPr>
        <p:spPr>
          <a:xfrm>
            <a:off x="8461825" y="4652159"/>
            <a:ext cx="1116000" cy="396000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40" name="文本占位符 39"/>
          <p:cNvSpPr>
            <a:spLocks noGrp="1"/>
          </p:cNvSpPr>
          <p:nvPr userDrawn="1">
            <p:ph type="body" sz="quarter" idx="16" hasCustomPrompt="1"/>
            <p:custDataLst>
              <p:tags r:id="rId29"/>
            </p:custDataLst>
          </p:nvPr>
        </p:nvSpPr>
        <p:spPr>
          <a:xfrm>
            <a:off x="9586550" y="4652159"/>
            <a:ext cx="1116000" cy="396000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1923559"/>
            <a:ext cx="12192000" cy="23355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4" name="组合 43"/>
          <p:cNvGrpSpPr/>
          <p:nvPr userDrawn="1">
            <p:custDataLst>
              <p:tags r:id="rId3"/>
            </p:custDataLst>
          </p:nvPr>
        </p:nvGrpSpPr>
        <p:grpSpPr>
          <a:xfrm>
            <a:off x="-3804" y="1485900"/>
            <a:ext cx="1522089" cy="3243580"/>
            <a:chOff x="-3804" y="1485900"/>
            <a:chExt cx="1522089" cy="3243580"/>
          </a:xfrm>
        </p:grpSpPr>
        <p:sp>
          <p:nvSpPr>
            <p:cNvPr id="36" name="任意多边形: 形状 35"/>
            <p:cNvSpPr/>
            <p:nvPr>
              <p:custDataLst>
                <p:tags r:id="rId4"/>
              </p:custDataLst>
            </p:nvPr>
          </p:nvSpPr>
          <p:spPr>
            <a:xfrm>
              <a:off x="1" y="2719070"/>
              <a:ext cx="494665" cy="670560"/>
            </a:xfrm>
            <a:custGeom>
              <a:avLst/>
              <a:gdLst>
                <a:gd name="connsiteX0" fmla="*/ 0 w 494665"/>
                <a:gd name="connsiteY0" fmla="*/ 0 h 670560"/>
                <a:gd name="connsiteX1" fmla="*/ 382903 w 494665"/>
                <a:gd name="connsiteY1" fmla="*/ 0 h 670560"/>
                <a:gd name="connsiteX2" fmla="*/ 494665 w 494665"/>
                <a:gd name="connsiteY2" fmla="*/ 111762 h 670560"/>
                <a:gd name="connsiteX3" fmla="*/ 494665 w 494665"/>
                <a:gd name="connsiteY3" fmla="*/ 558798 h 670560"/>
                <a:gd name="connsiteX4" fmla="*/ 382903 w 494665"/>
                <a:gd name="connsiteY4" fmla="*/ 670560 h 670560"/>
                <a:gd name="connsiteX5" fmla="*/ 0 w 494665"/>
                <a:gd name="connsiteY5" fmla="*/ 670560 h 670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4665" h="670560">
                  <a:moveTo>
                    <a:pt x="0" y="0"/>
                  </a:moveTo>
                  <a:lnTo>
                    <a:pt x="382903" y="0"/>
                  </a:lnTo>
                  <a:cubicBezTo>
                    <a:pt x="444627" y="0"/>
                    <a:pt x="494665" y="50038"/>
                    <a:pt x="494665" y="111762"/>
                  </a:cubicBezTo>
                  <a:lnTo>
                    <a:pt x="494665" y="558798"/>
                  </a:lnTo>
                  <a:cubicBezTo>
                    <a:pt x="494665" y="620522"/>
                    <a:pt x="444627" y="670560"/>
                    <a:pt x="382903" y="670560"/>
                  </a:cubicBezTo>
                  <a:lnTo>
                    <a:pt x="0" y="670560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15875">
              <a:solidFill>
                <a:schemeClr val="bg1">
                  <a:alpha val="3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任意多边形: 形状 27"/>
            <p:cNvSpPr/>
            <p:nvPr>
              <p:custDataLst>
                <p:tags r:id="rId5"/>
              </p:custDataLst>
            </p:nvPr>
          </p:nvSpPr>
          <p:spPr>
            <a:xfrm>
              <a:off x="-3804" y="1816735"/>
              <a:ext cx="343529" cy="1339215"/>
            </a:xfrm>
            <a:custGeom>
              <a:avLst/>
              <a:gdLst>
                <a:gd name="connsiteX0" fmla="*/ 0 w 343529"/>
                <a:gd name="connsiteY0" fmla="*/ 0 h 1339215"/>
                <a:gd name="connsiteX1" fmla="*/ 120322 w 343529"/>
                <a:gd name="connsiteY1" fmla="*/ 0 h 1339215"/>
                <a:gd name="connsiteX2" fmla="*/ 343529 w 343529"/>
                <a:gd name="connsiteY2" fmla="*/ 223207 h 1339215"/>
                <a:gd name="connsiteX3" fmla="*/ 343529 w 343529"/>
                <a:gd name="connsiteY3" fmla="*/ 1116008 h 1339215"/>
                <a:gd name="connsiteX4" fmla="*/ 120322 w 343529"/>
                <a:gd name="connsiteY4" fmla="*/ 1339215 h 1339215"/>
                <a:gd name="connsiteX5" fmla="*/ 0 w 343529"/>
                <a:gd name="connsiteY5" fmla="*/ 1339215 h 1339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3529" h="1339215">
                  <a:moveTo>
                    <a:pt x="0" y="0"/>
                  </a:moveTo>
                  <a:lnTo>
                    <a:pt x="120322" y="0"/>
                  </a:lnTo>
                  <a:cubicBezTo>
                    <a:pt x="243596" y="0"/>
                    <a:pt x="343529" y="99933"/>
                    <a:pt x="343529" y="223207"/>
                  </a:cubicBezTo>
                  <a:lnTo>
                    <a:pt x="343529" y="1116008"/>
                  </a:lnTo>
                  <a:cubicBezTo>
                    <a:pt x="343529" y="1239282"/>
                    <a:pt x="243596" y="1339215"/>
                    <a:pt x="120322" y="1339215"/>
                  </a:cubicBezTo>
                  <a:lnTo>
                    <a:pt x="0" y="1339215"/>
                  </a:lnTo>
                  <a:close/>
                </a:path>
              </a:pathLst>
            </a:custGeom>
            <a:solidFill>
              <a:schemeClr val="bg1">
                <a:alpha val="17000"/>
              </a:schemeClr>
            </a:solidFill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/>
            <p:cNvSpPr/>
            <p:nvPr>
              <p:custDataLst>
                <p:tags r:id="rId6"/>
              </p:custDataLst>
            </p:nvPr>
          </p:nvSpPr>
          <p:spPr>
            <a:xfrm>
              <a:off x="704850" y="1485900"/>
              <a:ext cx="813435" cy="813435"/>
            </a:xfrm>
            <a:prstGeom prst="roundRect">
              <a:avLst/>
            </a:prstGeom>
            <a:solidFill>
              <a:schemeClr val="bg1">
                <a:alpha val="16000"/>
              </a:schemeClr>
            </a:solidFill>
            <a:ln w="15875">
              <a:solidFill>
                <a:schemeClr val="bg1">
                  <a:alpha val="24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/>
            <p:cNvSpPr/>
            <p:nvPr>
              <p:custDataLst>
                <p:tags r:id="rId7"/>
              </p:custDataLst>
            </p:nvPr>
          </p:nvSpPr>
          <p:spPr>
            <a:xfrm>
              <a:off x="704850" y="3437255"/>
              <a:ext cx="659130" cy="659130"/>
            </a:xfrm>
            <a:prstGeom prst="roundRect">
              <a:avLst/>
            </a:prstGeom>
            <a:solidFill>
              <a:schemeClr val="bg1">
                <a:alpha val="12000"/>
              </a:schemeClr>
            </a:solidFill>
            <a:ln w="15875">
              <a:solidFill>
                <a:schemeClr val="bg1">
                  <a:alpha val="3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/>
            <p:cNvSpPr/>
            <p:nvPr>
              <p:custDataLst>
                <p:tags r:id="rId8"/>
              </p:custDataLst>
            </p:nvPr>
          </p:nvSpPr>
          <p:spPr>
            <a:xfrm>
              <a:off x="159385" y="3853180"/>
              <a:ext cx="876300" cy="876300"/>
            </a:xfrm>
            <a:prstGeom prst="roundRect">
              <a:avLst/>
            </a:prstGeom>
            <a:solidFill>
              <a:schemeClr val="bg1">
                <a:alpha val="5000"/>
              </a:schemeClr>
            </a:solidFill>
            <a:ln w="15875">
              <a:solidFill>
                <a:schemeClr val="bg1">
                  <a:alpha val="29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9"/>
            </p:custDataLst>
          </p:nvPr>
        </p:nvGrpSpPr>
        <p:grpSpPr>
          <a:xfrm>
            <a:off x="10609580" y="1081405"/>
            <a:ext cx="1582419" cy="4195445"/>
            <a:chOff x="10609580" y="1081405"/>
            <a:chExt cx="1582419" cy="4195445"/>
          </a:xfrm>
        </p:grpSpPr>
        <p:sp>
          <p:nvSpPr>
            <p:cNvPr id="40" name="任意多边形: 形状 39"/>
            <p:cNvSpPr/>
            <p:nvPr>
              <p:custDataLst>
                <p:tags r:id="rId10"/>
              </p:custDataLst>
            </p:nvPr>
          </p:nvSpPr>
          <p:spPr>
            <a:xfrm>
              <a:off x="11610975" y="2328545"/>
              <a:ext cx="581024" cy="893445"/>
            </a:xfrm>
            <a:custGeom>
              <a:avLst/>
              <a:gdLst>
                <a:gd name="connsiteX0" fmla="*/ 148910 w 581024"/>
                <a:gd name="connsiteY0" fmla="*/ 0 h 893445"/>
                <a:gd name="connsiteX1" fmla="*/ 581024 w 581024"/>
                <a:gd name="connsiteY1" fmla="*/ 0 h 893445"/>
                <a:gd name="connsiteX2" fmla="*/ 581024 w 581024"/>
                <a:gd name="connsiteY2" fmla="*/ 893445 h 893445"/>
                <a:gd name="connsiteX3" fmla="*/ 148910 w 581024"/>
                <a:gd name="connsiteY3" fmla="*/ 893445 h 893445"/>
                <a:gd name="connsiteX4" fmla="*/ 0 w 581024"/>
                <a:gd name="connsiteY4" fmla="*/ 744535 h 893445"/>
                <a:gd name="connsiteX5" fmla="*/ 0 w 581024"/>
                <a:gd name="connsiteY5" fmla="*/ 148910 h 893445"/>
                <a:gd name="connsiteX6" fmla="*/ 148910 w 581024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4" h="893445">
                  <a:moveTo>
                    <a:pt x="148910" y="0"/>
                  </a:moveTo>
                  <a:lnTo>
                    <a:pt x="581024" y="0"/>
                  </a:lnTo>
                  <a:lnTo>
                    <a:pt x="581024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bg1">
                <a:alpha val="13000"/>
              </a:schemeClr>
            </a:solidFill>
            <a:ln w="15875">
              <a:solidFill>
                <a:schemeClr val="bg1">
                  <a:alpha val="4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矩形: 圆角 16"/>
            <p:cNvSpPr/>
            <p:nvPr>
              <p:custDataLst>
                <p:tags r:id="rId11"/>
              </p:custDataLst>
            </p:nvPr>
          </p:nvSpPr>
          <p:spPr>
            <a:xfrm>
              <a:off x="10609580" y="3188335"/>
              <a:ext cx="727710" cy="727710"/>
            </a:xfrm>
            <a:prstGeom prst="roundRect">
              <a:avLst/>
            </a:prstGeom>
            <a:solidFill>
              <a:schemeClr val="bg1">
                <a:alpha val="8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: 形状 37"/>
            <p:cNvSpPr/>
            <p:nvPr>
              <p:custDataLst>
                <p:tags r:id="rId12"/>
              </p:custDataLst>
            </p:nvPr>
          </p:nvSpPr>
          <p:spPr>
            <a:xfrm>
              <a:off x="11064240" y="1081405"/>
              <a:ext cx="1127758" cy="1784985"/>
            </a:xfrm>
            <a:custGeom>
              <a:avLst/>
              <a:gdLst>
                <a:gd name="connsiteX0" fmla="*/ 297503 w 1127758"/>
                <a:gd name="connsiteY0" fmla="*/ 0 h 1784985"/>
                <a:gd name="connsiteX1" fmla="*/ 1127758 w 1127758"/>
                <a:gd name="connsiteY1" fmla="*/ 0 h 1784985"/>
                <a:gd name="connsiteX2" fmla="*/ 1127758 w 1127758"/>
                <a:gd name="connsiteY2" fmla="*/ 1784985 h 1784985"/>
                <a:gd name="connsiteX3" fmla="*/ 297503 w 1127758"/>
                <a:gd name="connsiteY3" fmla="*/ 1784985 h 1784985"/>
                <a:gd name="connsiteX4" fmla="*/ 0 w 1127758"/>
                <a:gd name="connsiteY4" fmla="*/ 1487482 h 1784985"/>
                <a:gd name="connsiteX5" fmla="*/ 0 w 1127758"/>
                <a:gd name="connsiteY5" fmla="*/ 297503 h 1784985"/>
                <a:gd name="connsiteX6" fmla="*/ 297503 w 1127758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758" h="1784985">
                  <a:moveTo>
                    <a:pt x="297503" y="0"/>
                  </a:moveTo>
                  <a:lnTo>
                    <a:pt x="1127758" y="0"/>
                  </a:lnTo>
                  <a:lnTo>
                    <a:pt x="1127758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bg1">
                <a:alpha val="17000"/>
              </a:schemeClr>
            </a:solidFill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/>
            <p:cNvSpPr/>
            <p:nvPr>
              <p:custDataLst>
                <p:tags r:id="rId13"/>
              </p:custDataLst>
            </p:nvPr>
          </p:nvSpPr>
          <p:spPr>
            <a:xfrm>
              <a:off x="10901045" y="3491865"/>
              <a:ext cx="1290954" cy="1784985"/>
            </a:xfrm>
            <a:custGeom>
              <a:avLst/>
              <a:gdLst>
                <a:gd name="connsiteX0" fmla="*/ 297503 w 1290954"/>
                <a:gd name="connsiteY0" fmla="*/ 0 h 1784985"/>
                <a:gd name="connsiteX1" fmla="*/ 1290954 w 1290954"/>
                <a:gd name="connsiteY1" fmla="*/ 0 h 1784985"/>
                <a:gd name="connsiteX2" fmla="*/ 1290954 w 1290954"/>
                <a:gd name="connsiteY2" fmla="*/ 1784985 h 1784985"/>
                <a:gd name="connsiteX3" fmla="*/ 297503 w 1290954"/>
                <a:gd name="connsiteY3" fmla="*/ 1784985 h 1784985"/>
                <a:gd name="connsiteX4" fmla="*/ 0 w 1290954"/>
                <a:gd name="connsiteY4" fmla="*/ 1487482 h 1784985"/>
                <a:gd name="connsiteX5" fmla="*/ 0 w 1290954"/>
                <a:gd name="connsiteY5" fmla="*/ 297503 h 1784985"/>
                <a:gd name="connsiteX6" fmla="*/ 297503 w 1290954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90954" h="1784985">
                  <a:moveTo>
                    <a:pt x="297503" y="0"/>
                  </a:moveTo>
                  <a:lnTo>
                    <a:pt x="1290954" y="0"/>
                  </a:lnTo>
                  <a:lnTo>
                    <a:pt x="1290954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bg1">
                <a:alpha val="17000"/>
              </a:schemeClr>
            </a:solidFill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 userDrawn="1">
            <p:custDataLst>
              <p:tags r:id="rId14"/>
            </p:custDataLst>
          </p:nvPr>
        </p:nvGrpSpPr>
        <p:grpSpPr>
          <a:xfrm>
            <a:off x="5576175" y="4639241"/>
            <a:ext cx="1039650" cy="128690"/>
            <a:chOff x="9570219" y="4769963"/>
            <a:chExt cx="1039650" cy="128690"/>
          </a:xfrm>
        </p:grpSpPr>
        <p:sp>
          <p:nvSpPr>
            <p:cNvPr id="21" name="矩形 20"/>
            <p:cNvSpPr/>
            <p:nvPr>
              <p:custDataLst>
                <p:tags r:id="rId15"/>
              </p:custDataLst>
            </p:nvPr>
          </p:nvSpPr>
          <p:spPr>
            <a:xfrm>
              <a:off x="9570219" y="4769963"/>
              <a:ext cx="128690" cy="12869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矩形 21"/>
            <p:cNvSpPr/>
            <p:nvPr>
              <p:custDataLst>
                <p:tags r:id="rId16"/>
              </p:custDataLst>
            </p:nvPr>
          </p:nvSpPr>
          <p:spPr>
            <a:xfrm>
              <a:off x="9797959" y="4769963"/>
              <a:ext cx="128690" cy="1286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>
              <p:custDataLst>
                <p:tags r:id="rId17"/>
              </p:custDataLst>
            </p:nvPr>
          </p:nvSpPr>
          <p:spPr>
            <a:xfrm>
              <a:off x="10025699" y="4769963"/>
              <a:ext cx="128690" cy="1286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>
              <p:custDataLst>
                <p:tags r:id="rId18"/>
              </p:custDataLst>
            </p:nvPr>
          </p:nvSpPr>
          <p:spPr>
            <a:xfrm>
              <a:off x="10253439" y="4769963"/>
              <a:ext cx="128690" cy="1286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>
              <p:custDataLst>
                <p:tags r:id="rId19"/>
              </p:custDataLst>
            </p:nvPr>
          </p:nvSpPr>
          <p:spPr>
            <a:xfrm>
              <a:off x="10481179" y="4769963"/>
              <a:ext cx="128690" cy="12869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3"/>
            </p:custDataLst>
          </p:nvPr>
        </p:nvSpPr>
        <p:spPr>
          <a:xfrm>
            <a:off x="3528846" y="3155950"/>
            <a:ext cx="5134307" cy="742950"/>
          </a:xfrm>
        </p:spPr>
        <p:txBody>
          <a:bodyPr lIns="90000" tIns="46800" rIns="90000" bIns="0" anchor="t" anchorCtr="0">
            <a:normAutofit/>
          </a:bodyPr>
          <a:lstStyle>
            <a:lvl1pPr algn="ctr">
              <a:defRPr sz="4400" u="none" strike="noStrike" kern="1200" cap="none" spc="300" normalizeH="0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 userDrawn="1">
            <p:custDataLst>
              <p:tags r:id="rId2"/>
            </p:custDataLst>
          </p:nvPr>
        </p:nvGrpSpPr>
        <p:grpSpPr>
          <a:xfrm>
            <a:off x="-3447" y="-189"/>
            <a:ext cx="4675187" cy="6856525"/>
            <a:chOff x="-3447" y="-189"/>
            <a:chExt cx="4675187" cy="6856525"/>
          </a:xfrm>
          <a:solidFill>
            <a:schemeClr val="accent1"/>
          </a:solidFill>
        </p:grpSpPr>
        <p:sp>
          <p:nvSpPr>
            <p:cNvPr id="43" name="流程图: 文档 42"/>
            <p:cNvSpPr/>
            <p:nvPr userDrawn="1">
              <p:custDataLst>
                <p:tags r:id="rId3"/>
              </p:custDataLst>
            </p:nvPr>
          </p:nvSpPr>
          <p:spPr>
            <a:xfrm rot="16200000">
              <a:off x="-872533" y="1312062"/>
              <a:ext cx="6856524" cy="4232023"/>
            </a:xfrm>
            <a:prstGeom prst="flowChartDocumen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: 形状 43"/>
            <p:cNvSpPr/>
            <p:nvPr userDrawn="1">
              <p:custDataLst>
                <p:tags r:id="rId4"/>
              </p:custDataLst>
            </p:nvPr>
          </p:nvSpPr>
          <p:spPr>
            <a:xfrm>
              <a:off x="0" y="1"/>
              <a:ext cx="4559301" cy="6855293"/>
            </a:xfrm>
            <a:custGeom>
              <a:avLst/>
              <a:gdLst>
                <a:gd name="connsiteX0" fmla="*/ 0 w 4559301"/>
                <a:gd name="connsiteY0" fmla="*/ 0 h 6855293"/>
                <a:gd name="connsiteX1" fmla="*/ 3762289 w 4559301"/>
                <a:gd name="connsiteY1" fmla="*/ 0 h 6855293"/>
                <a:gd name="connsiteX2" fmla="*/ 3765029 w 4559301"/>
                <a:gd name="connsiteY2" fmla="*/ 230702 h 6855293"/>
                <a:gd name="connsiteX3" fmla="*/ 4391808 w 4559301"/>
                <a:gd name="connsiteY3" fmla="*/ 6560195 h 6855293"/>
                <a:gd name="connsiteX4" fmla="*/ 4331769 w 4559301"/>
                <a:gd name="connsiteY4" fmla="*/ 6855293 h 6855293"/>
                <a:gd name="connsiteX5" fmla="*/ 0 w 4559301"/>
                <a:gd name="connsiteY5" fmla="*/ 6855293 h 6855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559301" h="6855293">
                  <a:moveTo>
                    <a:pt x="0" y="0"/>
                  </a:moveTo>
                  <a:lnTo>
                    <a:pt x="3762289" y="0"/>
                  </a:lnTo>
                  <a:lnTo>
                    <a:pt x="3765029" y="230702"/>
                  </a:lnTo>
                  <a:cubicBezTo>
                    <a:pt x="3839114" y="3295200"/>
                    <a:pt x="4979109" y="3489718"/>
                    <a:pt x="4391808" y="6560195"/>
                  </a:cubicBezTo>
                  <a:lnTo>
                    <a:pt x="4331769" y="6855293"/>
                  </a:lnTo>
                  <a:lnTo>
                    <a:pt x="0" y="685529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5" name="矩形: 圆角 44"/>
            <p:cNvSpPr/>
            <p:nvPr>
              <p:custDataLst>
                <p:tags r:id="rId5"/>
              </p:custDataLst>
            </p:nvPr>
          </p:nvSpPr>
          <p:spPr>
            <a:xfrm>
              <a:off x="672465" y="606425"/>
              <a:ext cx="670560" cy="670560"/>
            </a:xfrm>
            <a:prstGeom prst="roundRect">
              <a:avLst/>
            </a:prstGeom>
            <a:grpFill/>
            <a:ln w="15875">
              <a:solidFill>
                <a:schemeClr val="bg1">
                  <a:alpha val="4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任意多边形: 形状 45"/>
            <p:cNvSpPr/>
            <p:nvPr>
              <p:custDataLst>
                <p:tags r:id="rId6"/>
              </p:custDataLst>
            </p:nvPr>
          </p:nvSpPr>
          <p:spPr>
            <a:xfrm>
              <a:off x="-3447" y="-189"/>
              <a:ext cx="1010557" cy="1043494"/>
            </a:xfrm>
            <a:custGeom>
              <a:avLst/>
              <a:gdLst>
                <a:gd name="connsiteX0" fmla="*/ 0 w 1010557"/>
                <a:gd name="connsiteY0" fmla="*/ 0 h 1043494"/>
                <a:gd name="connsiteX1" fmla="*/ 1010557 w 1010557"/>
                <a:gd name="connsiteY1" fmla="*/ 0 h 1043494"/>
                <a:gd name="connsiteX2" fmla="*/ 1010557 w 1010557"/>
                <a:gd name="connsiteY2" fmla="*/ 820287 h 1043494"/>
                <a:gd name="connsiteX3" fmla="*/ 787350 w 1010557"/>
                <a:gd name="connsiteY3" fmla="*/ 1043494 h 1043494"/>
                <a:gd name="connsiteX4" fmla="*/ 0 w 1010557"/>
                <a:gd name="connsiteY4" fmla="*/ 1043494 h 1043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0557" h="1043494">
                  <a:moveTo>
                    <a:pt x="0" y="0"/>
                  </a:moveTo>
                  <a:lnTo>
                    <a:pt x="1010557" y="0"/>
                  </a:lnTo>
                  <a:lnTo>
                    <a:pt x="1010557" y="820287"/>
                  </a:lnTo>
                  <a:cubicBezTo>
                    <a:pt x="1010557" y="943561"/>
                    <a:pt x="910624" y="1043494"/>
                    <a:pt x="787350" y="1043494"/>
                  </a:cubicBezTo>
                  <a:lnTo>
                    <a:pt x="0" y="1043494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任意多边形: 形状 46"/>
            <p:cNvSpPr/>
            <p:nvPr>
              <p:custDataLst>
                <p:tags r:id="rId7"/>
              </p:custDataLst>
            </p:nvPr>
          </p:nvSpPr>
          <p:spPr>
            <a:xfrm>
              <a:off x="1474470" y="-189"/>
              <a:ext cx="813435" cy="624394"/>
            </a:xfrm>
            <a:custGeom>
              <a:avLst/>
              <a:gdLst>
                <a:gd name="connsiteX0" fmla="*/ 0 w 813435"/>
                <a:gd name="connsiteY0" fmla="*/ 0 h 624394"/>
                <a:gd name="connsiteX1" fmla="*/ 813435 w 813435"/>
                <a:gd name="connsiteY1" fmla="*/ 0 h 624394"/>
                <a:gd name="connsiteX2" fmla="*/ 813435 w 813435"/>
                <a:gd name="connsiteY2" fmla="*/ 488819 h 624394"/>
                <a:gd name="connsiteX3" fmla="*/ 677860 w 813435"/>
                <a:gd name="connsiteY3" fmla="*/ 624394 h 624394"/>
                <a:gd name="connsiteX4" fmla="*/ 135575 w 813435"/>
                <a:gd name="connsiteY4" fmla="*/ 624394 h 624394"/>
                <a:gd name="connsiteX5" fmla="*/ 0 w 813435"/>
                <a:gd name="connsiteY5" fmla="*/ 488819 h 62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435" h="624394">
                  <a:moveTo>
                    <a:pt x="0" y="0"/>
                  </a:moveTo>
                  <a:lnTo>
                    <a:pt x="813435" y="0"/>
                  </a:lnTo>
                  <a:lnTo>
                    <a:pt x="813435" y="488819"/>
                  </a:lnTo>
                  <a:cubicBezTo>
                    <a:pt x="813435" y="563695"/>
                    <a:pt x="752736" y="624394"/>
                    <a:pt x="677860" y="624394"/>
                  </a:cubicBezTo>
                  <a:lnTo>
                    <a:pt x="135575" y="624394"/>
                  </a:lnTo>
                  <a:cubicBezTo>
                    <a:pt x="60699" y="624394"/>
                    <a:pt x="0" y="563695"/>
                    <a:pt x="0" y="488819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8" name="矩形: 圆角 47"/>
            <p:cNvSpPr/>
            <p:nvPr>
              <p:custDataLst>
                <p:tags r:id="rId8"/>
              </p:custDataLst>
            </p:nvPr>
          </p:nvSpPr>
          <p:spPr>
            <a:xfrm>
              <a:off x="2493645" y="353060"/>
              <a:ext cx="659130" cy="659130"/>
            </a:xfrm>
            <a:prstGeom prst="roundRect">
              <a:avLst/>
            </a:prstGeom>
            <a:grpFill/>
            <a:ln w="15875">
              <a:solidFill>
                <a:schemeClr val="bg1"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: 形状 48"/>
            <p:cNvSpPr/>
            <p:nvPr>
              <p:custDataLst>
                <p:tags r:id="rId9"/>
              </p:custDataLst>
            </p:nvPr>
          </p:nvSpPr>
          <p:spPr>
            <a:xfrm>
              <a:off x="-3447" y="1544320"/>
              <a:ext cx="284752" cy="504190"/>
            </a:xfrm>
            <a:custGeom>
              <a:avLst/>
              <a:gdLst>
                <a:gd name="connsiteX0" fmla="*/ 0 w 284752"/>
                <a:gd name="connsiteY0" fmla="*/ 0 h 504190"/>
                <a:gd name="connsiteX1" fmla="*/ 200719 w 284752"/>
                <a:gd name="connsiteY1" fmla="*/ 0 h 504190"/>
                <a:gd name="connsiteX2" fmla="*/ 284752 w 284752"/>
                <a:gd name="connsiteY2" fmla="*/ 84033 h 504190"/>
                <a:gd name="connsiteX3" fmla="*/ 284752 w 284752"/>
                <a:gd name="connsiteY3" fmla="*/ 420157 h 504190"/>
                <a:gd name="connsiteX4" fmla="*/ 200719 w 284752"/>
                <a:gd name="connsiteY4" fmla="*/ 504190 h 504190"/>
                <a:gd name="connsiteX5" fmla="*/ 0 w 284752"/>
                <a:gd name="connsiteY5" fmla="*/ 504190 h 50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752" h="504190">
                  <a:moveTo>
                    <a:pt x="0" y="0"/>
                  </a:moveTo>
                  <a:lnTo>
                    <a:pt x="200719" y="0"/>
                  </a:lnTo>
                  <a:cubicBezTo>
                    <a:pt x="247129" y="0"/>
                    <a:pt x="284752" y="37623"/>
                    <a:pt x="284752" y="84033"/>
                  </a:cubicBezTo>
                  <a:lnTo>
                    <a:pt x="284752" y="420157"/>
                  </a:lnTo>
                  <a:cubicBezTo>
                    <a:pt x="284752" y="466567"/>
                    <a:pt x="247129" y="504190"/>
                    <a:pt x="200719" y="504190"/>
                  </a:cubicBezTo>
                  <a:lnTo>
                    <a:pt x="0" y="504190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4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0" name="矩形: 圆角 49"/>
            <p:cNvSpPr/>
            <p:nvPr>
              <p:custDataLst>
                <p:tags r:id="rId10"/>
              </p:custDataLst>
            </p:nvPr>
          </p:nvSpPr>
          <p:spPr>
            <a:xfrm>
              <a:off x="2707640" y="624205"/>
              <a:ext cx="876300" cy="876300"/>
            </a:xfrm>
            <a:prstGeom prst="roundRect">
              <a:avLst/>
            </a:prstGeom>
            <a:grpFill/>
            <a:ln w="15875">
              <a:solidFill>
                <a:schemeClr val="bg1">
                  <a:alpha val="4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: 圆角 50"/>
            <p:cNvSpPr/>
            <p:nvPr>
              <p:custDataLst>
                <p:tags r:id="rId11"/>
              </p:custDataLst>
            </p:nvPr>
          </p:nvSpPr>
          <p:spPr>
            <a:xfrm>
              <a:off x="1605280" y="1115060"/>
              <a:ext cx="402590" cy="402590"/>
            </a:xfrm>
            <a:prstGeom prst="roundRect">
              <a:avLst/>
            </a:prstGeom>
            <a:grpFill/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/>
            <p:cNvSpPr/>
            <p:nvPr>
              <p:custDataLst>
                <p:tags r:id="rId12"/>
              </p:custDataLst>
            </p:nvPr>
          </p:nvSpPr>
          <p:spPr>
            <a:xfrm>
              <a:off x="169545" y="1916430"/>
              <a:ext cx="402590" cy="432435"/>
            </a:xfrm>
            <a:prstGeom prst="roundRect">
              <a:avLst/>
            </a:prstGeom>
            <a:grpFill/>
            <a:ln w="15875">
              <a:solidFill>
                <a:schemeClr val="bg1">
                  <a:alpha val="4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/>
            <p:cNvSpPr/>
            <p:nvPr>
              <p:custDataLst>
                <p:tags r:id="rId13"/>
              </p:custDataLst>
            </p:nvPr>
          </p:nvSpPr>
          <p:spPr>
            <a:xfrm>
              <a:off x="885825" y="6346190"/>
              <a:ext cx="893445" cy="505682"/>
            </a:xfrm>
            <a:custGeom>
              <a:avLst/>
              <a:gdLst>
                <a:gd name="connsiteX0" fmla="*/ 148910 w 893445"/>
                <a:gd name="connsiteY0" fmla="*/ 0 h 505682"/>
                <a:gd name="connsiteX1" fmla="*/ 744535 w 893445"/>
                <a:gd name="connsiteY1" fmla="*/ 0 h 505682"/>
                <a:gd name="connsiteX2" fmla="*/ 893445 w 893445"/>
                <a:gd name="connsiteY2" fmla="*/ 148910 h 505682"/>
                <a:gd name="connsiteX3" fmla="*/ 893445 w 893445"/>
                <a:gd name="connsiteY3" fmla="*/ 505682 h 505682"/>
                <a:gd name="connsiteX4" fmla="*/ 0 w 893445"/>
                <a:gd name="connsiteY4" fmla="*/ 505682 h 505682"/>
                <a:gd name="connsiteX5" fmla="*/ 0 w 893445"/>
                <a:gd name="connsiteY5" fmla="*/ 148910 h 505682"/>
                <a:gd name="connsiteX6" fmla="*/ 148910 w 893445"/>
                <a:gd name="connsiteY6" fmla="*/ 0 h 505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505682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505682"/>
                  </a:lnTo>
                  <a:lnTo>
                    <a:pt x="0" y="505682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5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4" name="任意多边形: 形状 53"/>
            <p:cNvSpPr/>
            <p:nvPr>
              <p:custDataLst>
                <p:tags r:id="rId14"/>
              </p:custDataLst>
            </p:nvPr>
          </p:nvSpPr>
          <p:spPr>
            <a:xfrm>
              <a:off x="0" y="5970905"/>
              <a:ext cx="1332230" cy="880967"/>
            </a:xfrm>
            <a:custGeom>
              <a:avLst/>
              <a:gdLst>
                <a:gd name="connsiteX0" fmla="*/ 0 w 1332230"/>
                <a:gd name="connsiteY0" fmla="*/ 0 h 880967"/>
                <a:gd name="connsiteX1" fmla="*/ 1034727 w 1332230"/>
                <a:gd name="connsiteY1" fmla="*/ 0 h 880967"/>
                <a:gd name="connsiteX2" fmla="*/ 1332230 w 1332230"/>
                <a:gd name="connsiteY2" fmla="*/ 297503 h 880967"/>
                <a:gd name="connsiteX3" fmla="*/ 1332230 w 1332230"/>
                <a:gd name="connsiteY3" fmla="*/ 880967 h 880967"/>
                <a:gd name="connsiteX4" fmla="*/ 0 w 1332230"/>
                <a:gd name="connsiteY4" fmla="*/ 880967 h 88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2230" h="880967">
                  <a:moveTo>
                    <a:pt x="0" y="0"/>
                  </a:moveTo>
                  <a:lnTo>
                    <a:pt x="1034727" y="0"/>
                  </a:lnTo>
                  <a:cubicBezTo>
                    <a:pt x="1199033" y="0"/>
                    <a:pt x="1332230" y="133197"/>
                    <a:pt x="1332230" y="297503"/>
                  </a:cubicBezTo>
                  <a:lnTo>
                    <a:pt x="1332230" y="880967"/>
                  </a:lnTo>
                  <a:lnTo>
                    <a:pt x="0" y="880967"/>
                  </a:ln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5" name="任意多边形: 形状 54"/>
            <p:cNvSpPr/>
            <p:nvPr userDrawn="1">
              <p:custDataLst>
                <p:tags r:id="rId15"/>
              </p:custDataLst>
            </p:nvPr>
          </p:nvSpPr>
          <p:spPr>
            <a:xfrm>
              <a:off x="2136605" y="6588125"/>
              <a:ext cx="1771355" cy="263747"/>
            </a:xfrm>
            <a:custGeom>
              <a:avLst/>
              <a:gdLst>
                <a:gd name="connsiteX0" fmla="*/ 290688 w 1771355"/>
                <a:gd name="connsiteY0" fmla="*/ 0 h 263747"/>
                <a:gd name="connsiteX1" fmla="*/ 1480667 w 1771355"/>
                <a:gd name="connsiteY1" fmla="*/ 0 h 263747"/>
                <a:gd name="connsiteX2" fmla="*/ 1754791 w 1771355"/>
                <a:gd name="connsiteY2" fmla="*/ 181702 h 263747"/>
                <a:gd name="connsiteX3" fmla="*/ 1771355 w 1771355"/>
                <a:gd name="connsiteY3" fmla="*/ 263747 h 263747"/>
                <a:gd name="connsiteX4" fmla="*/ 0 w 1771355"/>
                <a:gd name="connsiteY4" fmla="*/ 263747 h 263747"/>
                <a:gd name="connsiteX5" fmla="*/ 16564 w 1771355"/>
                <a:gd name="connsiteY5" fmla="*/ 181702 h 263747"/>
                <a:gd name="connsiteX6" fmla="*/ 290688 w 1771355"/>
                <a:gd name="connsiteY6" fmla="*/ 0 h 26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355" h="263747">
                  <a:moveTo>
                    <a:pt x="290688" y="0"/>
                  </a:moveTo>
                  <a:lnTo>
                    <a:pt x="1480667" y="0"/>
                  </a:lnTo>
                  <a:cubicBezTo>
                    <a:pt x="1603897" y="0"/>
                    <a:pt x="1709627" y="74924"/>
                    <a:pt x="1754791" y="181702"/>
                  </a:cubicBezTo>
                  <a:lnTo>
                    <a:pt x="1771355" y="263747"/>
                  </a:lnTo>
                  <a:lnTo>
                    <a:pt x="0" y="263747"/>
                  </a:lnTo>
                  <a:lnTo>
                    <a:pt x="16564" y="181702"/>
                  </a:lnTo>
                  <a:cubicBezTo>
                    <a:pt x="61728" y="74924"/>
                    <a:pt x="167459" y="0"/>
                    <a:pt x="290688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6" name="任意多边形: 形状 55"/>
            <p:cNvSpPr/>
            <p:nvPr>
              <p:custDataLst>
                <p:tags r:id="rId16"/>
              </p:custDataLst>
            </p:nvPr>
          </p:nvSpPr>
          <p:spPr>
            <a:xfrm>
              <a:off x="3397885" y="6395720"/>
              <a:ext cx="727710" cy="456152"/>
            </a:xfrm>
            <a:custGeom>
              <a:avLst/>
              <a:gdLst>
                <a:gd name="connsiteX0" fmla="*/ 121287 w 727710"/>
                <a:gd name="connsiteY0" fmla="*/ 0 h 456152"/>
                <a:gd name="connsiteX1" fmla="*/ 606423 w 727710"/>
                <a:gd name="connsiteY1" fmla="*/ 0 h 456152"/>
                <a:gd name="connsiteX2" fmla="*/ 727710 w 727710"/>
                <a:gd name="connsiteY2" fmla="*/ 121287 h 456152"/>
                <a:gd name="connsiteX3" fmla="*/ 727710 w 727710"/>
                <a:gd name="connsiteY3" fmla="*/ 456152 h 456152"/>
                <a:gd name="connsiteX4" fmla="*/ 0 w 727710"/>
                <a:gd name="connsiteY4" fmla="*/ 456152 h 456152"/>
                <a:gd name="connsiteX5" fmla="*/ 0 w 727710"/>
                <a:gd name="connsiteY5" fmla="*/ 121287 h 456152"/>
                <a:gd name="connsiteX6" fmla="*/ 121287 w 727710"/>
                <a:gd name="connsiteY6" fmla="*/ 0 h 456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27710" h="456152">
                  <a:moveTo>
                    <a:pt x="121287" y="0"/>
                  </a:moveTo>
                  <a:lnTo>
                    <a:pt x="606423" y="0"/>
                  </a:lnTo>
                  <a:cubicBezTo>
                    <a:pt x="673408" y="0"/>
                    <a:pt x="727710" y="54302"/>
                    <a:pt x="727710" y="121287"/>
                  </a:cubicBezTo>
                  <a:lnTo>
                    <a:pt x="727710" y="456152"/>
                  </a:lnTo>
                  <a:lnTo>
                    <a:pt x="0" y="456152"/>
                  </a:lnTo>
                  <a:lnTo>
                    <a:pt x="0" y="121287"/>
                  </a:lnTo>
                  <a:cubicBezTo>
                    <a:pt x="0" y="54302"/>
                    <a:pt x="54302" y="0"/>
                    <a:pt x="121287" y="0"/>
                  </a:cubicBezTo>
                  <a:close/>
                </a:path>
              </a:pathLst>
            </a:custGeom>
            <a:grpFill/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0" name="矩形 39"/>
          <p:cNvSpPr/>
          <p:nvPr>
            <p:custDataLst>
              <p:tags r:id="rId17"/>
            </p:custDataLst>
          </p:nvPr>
        </p:nvSpPr>
        <p:spPr>
          <a:xfrm>
            <a:off x="7222122" y="4251552"/>
            <a:ext cx="2160001" cy="2954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>
            <p:custDataLst>
              <p:tags r:id="rId18"/>
            </p:custDataLst>
          </p:nvPr>
        </p:nvSpPr>
        <p:spPr>
          <a:xfrm>
            <a:off x="8319765" y="4280078"/>
            <a:ext cx="1032934" cy="23902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 userDrawn="1">
            <p:ph type="dt" sz="half" idx="10"/>
            <p:custDataLst>
              <p:tags r:id="rId1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 userDrawn="1">
            <p:ph type="ftr" sz="quarter" idx="11"/>
            <p:custDataLst>
              <p:tags r:id="rId2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 userDrawn="1">
            <p:ph type="sldNum" sz="quarter" idx="12"/>
            <p:custDataLst>
              <p:tags r:id="rId2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 userDrawn="1">
            <p:ph type="body" sz="quarter" idx="13" hasCustomPrompt="1"/>
            <p:custDataLst>
              <p:tags r:id="rId22"/>
            </p:custDataLst>
          </p:nvPr>
        </p:nvSpPr>
        <p:spPr>
          <a:xfrm>
            <a:off x="7193547" y="4179387"/>
            <a:ext cx="1116000" cy="396000"/>
          </a:xfrm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42" name="文本占位符 41"/>
          <p:cNvSpPr>
            <a:spLocks noGrp="1"/>
          </p:cNvSpPr>
          <p:nvPr userDrawn="1">
            <p:ph type="body" sz="quarter" idx="14" hasCustomPrompt="1"/>
            <p:custDataLst>
              <p:tags r:id="rId23"/>
            </p:custDataLst>
          </p:nvPr>
        </p:nvSpPr>
        <p:spPr>
          <a:xfrm>
            <a:off x="8319764" y="4179387"/>
            <a:ext cx="1116000" cy="396000"/>
          </a:xfrm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24"/>
            </p:custDataLst>
          </p:nvPr>
        </p:nvSpPr>
        <p:spPr>
          <a:xfrm>
            <a:off x="4999019" y="2348865"/>
            <a:ext cx="6369050" cy="1107996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6000" spc="6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25"/>
            </p:custDataLst>
          </p:nvPr>
        </p:nvSpPr>
        <p:spPr>
          <a:xfrm>
            <a:off x="4999019" y="3531793"/>
            <a:ext cx="6369050" cy="558581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accent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>
            <p:custDataLst>
              <p:tags r:id="rId2"/>
            </p:custDataLst>
          </p:nvPr>
        </p:nvGrpSpPr>
        <p:grpSpPr>
          <a:xfrm>
            <a:off x="10507369" y="481320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3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4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5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6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7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10212030" y="450900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4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5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>
              <p:custDataLst>
                <p:tags r:id="rId7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>
              <p:custDataLst>
                <p:tags r:id="rId8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10507369" y="481320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4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5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>
              <p:custDataLst>
                <p:tags r:id="rId6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>
              <p:custDataLst>
                <p:tags r:id="rId7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>
              <p:custDataLst>
                <p:tags r:id="rId8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10507369" y="481320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4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5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>
              <p:custDataLst>
                <p:tags r:id="rId6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>
              <p:custDataLst>
                <p:tags r:id="rId7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>
              <p:custDataLst>
                <p:tags r:id="rId8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>
            <p:custDataLst>
              <p:tags r:id="rId9"/>
            </p:custDataLst>
          </p:nvPr>
        </p:nvGrpSpPr>
        <p:grpSpPr>
          <a:xfrm>
            <a:off x="0" y="5599612"/>
            <a:ext cx="1483360" cy="1258387"/>
            <a:chOff x="0" y="5110480"/>
            <a:chExt cx="2059940" cy="1747520"/>
          </a:xfrm>
        </p:grpSpPr>
        <p:sp>
          <p:nvSpPr>
            <p:cNvPr id="16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0" y="6012815"/>
              <a:ext cx="670560" cy="67056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/>
            <p:cNvSpPr/>
            <p:nvPr>
              <p:custDataLst>
                <p:tags r:id="rId11"/>
              </p:custDataLst>
            </p:nvPr>
          </p:nvSpPr>
          <p:spPr>
            <a:xfrm>
              <a:off x="0" y="5110480"/>
              <a:ext cx="314960" cy="1339215"/>
            </a:xfrm>
            <a:custGeom>
              <a:avLst/>
              <a:gdLst>
                <a:gd name="connsiteX0" fmla="*/ 0 w 314960"/>
                <a:gd name="connsiteY0" fmla="*/ 0 h 1339215"/>
                <a:gd name="connsiteX1" fmla="*/ 91753 w 314960"/>
                <a:gd name="connsiteY1" fmla="*/ 0 h 1339215"/>
                <a:gd name="connsiteX2" fmla="*/ 314960 w 314960"/>
                <a:gd name="connsiteY2" fmla="*/ 223207 h 1339215"/>
                <a:gd name="connsiteX3" fmla="*/ 314960 w 314960"/>
                <a:gd name="connsiteY3" fmla="*/ 1116008 h 1339215"/>
                <a:gd name="connsiteX4" fmla="*/ 91753 w 314960"/>
                <a:gd name="connsiteY4" fmla="*/ 1339215 h 1339215"/>
                <a:gd name="connsiteX5" fmla="*/ 0 w 314960"/>
                <a:gd name="connsiteY5" fmla="*/ 1339215 h 1339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4960" h="1339215">
                  <a:moveTo>
                    <a:pt x="0" y="0"/>
                  </a:moveTo>
                  <a:lnTo>
                    <a:pt x="91753" y="0"/>
                  </a:lnTo>
                  <a:cubicBezTo>
                    <a:pt x="215027" y="0"/>
                    <a:pt x="314960" y="99933"/>
                    <a:pt x="314960" y="223207"/>
                  </a:cubicBezTo>
                  <a:lnTo>
                    <a:pt x="314960" y="1116008"/>
                  </a:lnTo>
                  <a:cubicBezTo>
                    <a:pt x="314960" y="1239282"/>
                    <a:pt x="215027" y="1339215"/>
                    <a:pt x="91753" y="1339215"/>
                  </a:cubicBezTo>
                  <a:lnTo>
                    <a:pt x="0" y="1339215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>
              <p:custDataLst>
                <p:tags r:id="rId12"/>
              </p:custDataLst>
            </p:nvPr>
          </p:nvSpPr>
          <p:spPr>
            <a:xfrm>
              <a:off x="940435" y="6435090"/>
              <a:ext cx="813435" cy="422910"/>
            </a:xfrm>
            <a:custGeom>
              <a:avLst/>
              <a:gdLst>
                <a:gd name="connsiteX0" fmla="*/ 135575 w 813435"/>
                <a:gd name="connsiteY0" fmla="*/ 0 h 422910"/>
                <a:gd name="connsiteX1" fmla="*/ 677860 w 813435"/>
                <a:gd name="connsiteY1" fmla="*/ 0 h 422910"/>
                <a:gd name="connsiteX2" fmla="*/ 813435 w 813435"/>
                <a:gd name="connsiteY2" fmla="*/ 135575 h 422910"/>
                <a:gd name="connsiteX3" fmla="*/ 813435 w 813435"/>
                <a:gd name="connsiteY3" fmla="*/ 422910 h 422910"/>
                <a:gd name="connsiteX4" fmla="*/ 0 w 813435"/>
                <a:gd name="connsiteY4" fmla="*/ 422910 h 422910"/>
                <a:gd name="connsiteX5" fmla="*/ 0 w 813435"/>
                <a:gd name="connsiteY5" fmla="*/ 135575 h 422910"/>
                <a:gd name="connsiteX6" fmla="*/ 135575 w 813435"/>
                <a:gd name="connsiteY6" fmla="*/ 0 h 42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3435" h="422910">
                  <a:moveTo>
                    <a:pt x="135575" y="0"/>
                  </a:moveTo>
                  <a:lnTo>
                    <a:pt x="677860" y="0"/>
                  </a:lnTo>
                  <a:cubicBezTo>
                    <a:pt x="752736" y="0"/>
                    <a:pt x="813435" y="60699"/>
                    <a:pt x="813435" y="135575"/>
                  </a:cubicBezTo>
                  <a:lnTo>
                    <a:pt x="813435" y="422910"/>
                  </a:lnTo>
                  <a:lnTo>
                    <a:pt x="0" y="422910"/>
                  </a:lnTo>
                  <a:lnTo>
                    <a:pt x="0" y="135575"/>
                  </a:lnTo>
                  <a:cubicBezTo>
                    <a:pt x="0" y="60699"/>
                    <a:pt x="60699" y="0"/>
                    <a:pt x="135575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/>
            <p:cNvSpPr/>
            <p:nvPr>
              <p:custDataLst>
                <p:tags r:id="rId13"/>
              </p:custDataLst>
            </p:nvPr>
          </p:nvSpPr>
          <p:spPr>
            <a:xfrm>
              <a:off x="1400810" y="6024245"/>
              <a:ext cx="659130" cy="65913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>
              <p:custDataLst>
                <p:tags r:id="rId14"/>
              </p:custDataLst>
            </p:nvPr>
          </p:nvSpPr>
          <p:spPr>
            <a:xfrm>
              <a:off x="796290" y="5449570"/>
              <a:ext cx="402590" cy="40259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4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5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>
              <p:custDataLst>
                <p:tags r:id="rId6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: 形状 12"/>
            <p:cNvSpPr/>
            <p:nvPr>
              <p:custDataLst>
                <p:tags r:id="rId7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>
              <p:custDataLst>
                <p:tags r:id="rId8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>
            <p:custDataLst>
              <p:tags r:id="rId9"/>
            </p:custDataLst>
          </p:nvPr>
        </p:nvGrpSpPr>
        <p:grpSpPr>
          <a:xfrm rot="10800000">
            <a:off x="10702402" y="0"/>
            <a:ext cx="1483360" cy="1258387"/>
            <a:chOff x="0" y="5110480"/>
            <a:chExt cx="2059940" cy="1747520"/>
          </a:xfrm>
        </p:grpSpPr>
        <p:sp>
          <p:nvSpPr>
            <p:cNvPr id="16" name="矩形: 圆角 15"/>
            <p:cNvSpPr/>
            <p:nvPr>
              <p:custDataLst>
                <p:tags r:id="rId10"/>
              </p:custDataLst>
            </p:nvPr>
          </p:nvSpPr>
          <p:spPr>
            <a:xfrm>
              <a:off x="0" y="6012815"/>
              <a:ext cx="670560" cy="67056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: 形状 16"/>
            <p:cNvSpPr/>
            <p:nvPr>
              <p:custDataLst>
                <p:tags r:id="rId11"/>
              </p:custDataLst>
            </p:nvPr>
          </p:nvSpPr>
          <p:spPr>
            <a:xfrm>
              <a:off x="0" y="5110480"/>
              <a:ext cx="314960" cy="1339215"/>
            </a:xfrm>
            <a:custGeom>
              <a:avLst/>
              <a:gdLst>
                <a:gd name="connsiteX0" fmla="*/ 0 w 314960"/>
                <a:gd name="connsiteY0" fmla="*/ 0 h 1339215"/>
                <a:gd name="connsiteX1" fmla="*/ 91753 w 314960"/>
                <a:gd name="connsiteY1" fmla="*/ 0 h 1339215"/>
                <a:gd name="connsiteX2" fmla="*/ 314960 w 314960"/>
                <a:gd name="connsiteY2" fmla="*/ 223207 h 1339215"/>
                <a:gd name="connsiteX3" fmla="*/ 314960 w 314960"/>
                <a:gd name="connsiteY3" fmla="*/ 1116008 h 1339215"/>
                <a:gd name="connsiteX4" fmla="*/ 91753 w 314960"/>
                <a:gd name="connsiteY4" fmla="*/ 1339215 h 1339215"/>
                <a:gd name="connsiteX5" fmla="*/ 0 w 314960"/>
                <a:gd name="connsiteY5" fmla="*/ 1339215 h 1339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4960" h="1339215">
                  <a:moveTo>
                    <a:pt x="0" y="0"/>
                  </a:moveTo>
                  <a:lnTo>
                    <a:pt x="91753" y="0"/>
                  </a:lnTo>
                  <a:cubicBezTo>
                    <a:pt x="215027" y="0"/>
                    <a:pt x="314960" y="99933"/>
                    <a:pt x="314960" y="223207"/>
                  </a:cubicBezTo>
                  <a:lnTo>
                    <a:pt x="314960" y="1116008"/>
                  </a:lnTo>
                  <a:cubicBezTo>
                    <a:pt x="314960" y="1239282"/>
                    <a:pt x="215027" y="1339215"/>
                    <a:pt x="91753" y="1339215"/>
                  </a:cubicBezTo>
                  <a:lnTo>
                    <a:pt x="0" y="1339215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: 形状 17"/>
            <p:cNvSpPr/>
            <p:nvPr>
              <p:custDataLst>
                <p:tags r:id="rId12"/>
              </p:custDataLst>
            </p:nvPr>
          </p:nvSpPr>
          <p:spPr>
            <a:xfrm>
              <a:off x="940435" y="6435090"/>
              <a:ext cx="813435" cy="422910"/>
            </a:xfrm>
            <a:custGeom>
              <a:avLst/>
              <a:gdLst>
                <a:gd name="connsiteX0" fmla="*/ 135575 w 813435"/>
                <a:gd name="connsiteY0" fmla="*/ 0 h 422910"/>
                <a:gd name="connsiteX1" fmla="*/ 677860 w 813435"/>
                <a:gd name="connsiteY1" fmla="*/ 0 h 422910"/>
                <a:gd name="connsiteX2" fmla="*/ 813435 w 813435"/>
                <a:gd name="connsiteY2" fmla="*/ 135575 h 422910"/>
                <a:gd name="connsiteX3" fmla="*/ 813435 w 813435"/>
                <a:gd name="connsiteY3" fmla="*/ 422910 h 422910"/>
                <a:gd name="connsiteX4" fmla="*/ 0 w 813435"/>
                <a:gd name="connsiteY4" fmla="*/ 422910 h 422910"/>
                <a:gd name="connsiteX5" fmla="*/ 0 w 813435"/>
                <a:gd name="connsiteY5" fmla="*/ 135575 h 422910"/>
                <a:gd name="connsiteX6" fmla="*/ 135575 w 813435"/>
                <a:gd name="connsiteY6" fmla="*/ 0 h 42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3435" h="422910">
                  <a:moveTo>
                    <a:pt x="135575" y="0"/>
                  </a:moveTo>
                  <a:lnTo>
                    <a:pt x="677860" y="0"/>
                  </a:lnTo>
                  <a:cubicBezTo>
                    <a:pt x="752736" y="0"/>
                    <a:pt x="813435" y="60699"/>
                    <a:pt x="813435" y="135575"/>
                  </a:cubicBezTo>
                  <a:lnTo>
                    <a:pt x="813435" y="422910"/>
                  </a:lnTo>
                  <a:lnTo>
                    <a:pt x="0" y="422910"/>
                  </a:lnTo>
                  <a:lnTo>
                    <a:pt x="0" y="135575"/>
                  </a:lnTo>
                  <a:cubicBezTo>
                    <a:pt x="0" y="60699"/>
                    <a:pt x="60699" y="0"/>
                    <a:pt x="135575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/>
            <p:cNvSpPr/>
            <p:nvPr>
              <p:custDataLst>
                <p:tags r:id="rId13"/>
              </p:custDataLst>
            </p:nvPr>
          </p:nvSpPr>
          <p:spPr>
            <a:xfrm>
              <a:off x="1400810" y="6024245"/>
              <a:ext cx="659130" cy="65913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: 圆角 19"/>
            <p:cNvSpPr/>
            <p:nvPr>
              <p:custDataLst>
                <p:tags r:id="rId14"/>
              </p:custDataLst>
            </p:nvPr>
          </p:nvSpPr>
          <p:spPr>
            <a:xfrm>
              <a:off x="796290" y="5449570"/>
              <a:ext cx="402590" cy="40259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1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1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2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3" name="组合 2"/>
          <p:cNvGrpSpPr/>
          <p:nvPr userDrawn="1">
            <p:custDataLst>
              <p:tags r:id="rId3"/>
            </p:custDataLst>
          </p:nvPr>
        </p:nvGrpSpPr>
        <p:grpSpPr>
          <a:xfrm>
            <a:off x="10507369" y="4813200"/>
            <a:ext cx="1694156" cy="2044800"/>
            <a:chOff x="9615170" y="3736340"/>
            <a:chExt cx="2586355" cy="3121660"/>
          </a:xfrm>
        </p:grpSpPr>
        <p:sp>
          <p:nvSpPr>
            <p:cNvPr id="4" name="任意多边形: 形状 3"/>
            <p:cNvSpPr/>
            <p:nvPr>
              <p:custDataLst>
                <p:tags r:id="rId4"/>
              </p:custDataLst>
            </p:nvPr>
          </p:nvSpPr>
          <p:spPr>
            <a:xfrm>
              <a:off x="11711940" y="4954270"/>
              <a:ext cx="480060" cy="893445"/>
            </a:xfrm>
            <a:custGeom>
              <a:avLst/>
              <a:gdLst>
                <a:gd name="connsiteX0" fmla="*/ 148910 w 480060"/>
                <a:gd name="connsiteY0" fmla="*/ 0 h 893445"/>
                <a:gd name="connsiteX1" fmla="*/ 480060 w 480060"/>
                <a:gd name="connsiteY1" fmla="*/ 0 h 893445"/>
                <a:gd name="connsiteX2" fmla="*/ 480060 w 480060"/>
                <a:gd name="connsiteY2" fmla="*/ 893445 h 893445"/>
                <a:gd name="connsiteX3" fmla="*/ 148910 w 480060"/>
                <a:gd name="connsiteY3" fmla="*/ 893445 h 893445"/>
                <a:gd name="connsiteX4" fmla="*/ 0 w 480060"/>
                <a:gd name="connsiteY4" fmla="*/ 744535 h 893445"/>
                <a:gd name="connsiteX5" fmla="*/ 0 w 480060"/>
                <a:gd name="connsiteY5" fmla="*/ 148910 h 893445"/>
                <a:gd name="connsiteX6" fmla="*/ 148910 w 480060"/>
                <a:gd name="connsiteY6" fmla="*/ 0 h 89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0060" h="893445">
                  <a:moveTo>
                    <a:pt x="148910" y="0"/>
                  </a:moveTo>
                  <a:lnTo>
                    <a:pt x="480060" y="0"/>
                  </a:lnTo>
                  <a:lnTo>
                    <a:pt x="480060" y="893445"/>
                  </a:lnTo>
                  <a:lnTo>
                    <a:pt x="148910" y="893445"/>
                  </a:lnTo>
                  <a:cubicBezTo>
                    <a:pt x="66669" y="893445"/>
                    <a:pt x="0" y="826776"/>
                    <a:pt x="0" y="744535"/>
                  </a:cubicBez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3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矩形: 圆角 4"/>
            <p:cNvSpPr/>
            <p:nvPr>
              <p:custDataLst>
                <p:tags r:id="rId5"/>
              </p:custDataLst>
            </p:nvPr>
          </p:nvSpPr>
          <p:spPr>
            <a:xfrm>
              <a:off x="10710545" y="5814060"/>
              <a:ext cx="727710" cy="72771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7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>
              <p:custDataLst>
                <p:tags r:id="rId6"/>
              </p:custDataLst>
            </p:nvPr>
          </p:nvSpPr>
          <p:spPr>
            <a:xfrm>
              <a:off x="11438255" y="3736340"/>
              <a:ext cx="753745" cy="1784985"/>
            </a:xfrm>
            <a:custGeom>
              <a:avLst/>
              <a:gdLst>
                <a:gd name="connsiteX0" fmla="*/ 297503 w 753745"/>
                <a:gd name="connsiteY0" fmla="*/ 0 h 1784985"/>
                <a:gd name="connsiteX1" fmla="*/ 753745 w 753745"/>
                <a:gd name="connsiteY1" fmla="*/ 0 h 1784985"/>
                <a:gd name="connsiteX2" fmla="*/ 753745 w 753745"/>
                <a:gd name="connsiteY2" fmla="*/ 1784985 h 1784985"/>
                <a:gd name="connsiteX3" fmla="*/ 297503 w 753745"/>
                <a:gd name="connsiteY3" fmla="*/ 1784985 h 1784985"/>
                <a:gd name="connsiteX4" fmla="*/ 0 w 753745"/>
                <a:gd name="connsiteY4" fmla="*/ 1487482 h 1784985"/>
                <a:gd name="connsiteX5" fmla="*/ 0 w 753745"/>
                <a:gd name="connsiteY5" fmla="*/ 297503 h 1784985"/>
                <a:gd name="connsiteX6" fmla="*/ 297503 w 753745"/>
                <a:gd name="connsiteY6" fmla="*/ 0 h 1784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3745" h="1784985">
                  <a:moveTo>
                    <a:pt x="297503" y="0"/>
                  </a:moveTo>
                  <a:lnTo>
                    <a:pt x="753745" y="0"/>
                  </a:lnTo>
                  <a:lnTo>
                    <a:pt x="753745" y="1784985"/>
                  </a:lnTo>
                  <a:lnTo>
                    <a:pt x="297503" y="1784985"/>
                  </a:lnTo>
                  <a:cubicBezTo>
                    <a:pt x="133197" y="1784985"/>
                    <a:pt x="0" y="1651788"/>
                    <a:pt x="0" y="1487482"/>
                  </a:cubicBez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: 形状 14"/>
            <p:cNvSpPr/>
            <p:nvPr>
              <p:custDataLst>
                <p:tags r:id="rId7"/>
              </p:custDataLst>
            </p:nvPr>
          </p:nvSpPr>
          <p:spPr>
            <a:xfrm>
              <a:off x="11002010" y="6117590"/>
              <a:ext cx="1199515" cy="740410"/>
            </a:xfrm>
            <a:custGeom>
              <a:avLst/>
              <a:gdLst>
                <a:gd name="connsiteX0" fmla="*/ 297503 w 1199515"/>
                <a:gd name="connsiteY0" fmla="*/ 0 h 740410"/>
                <a:gd name="connsiteX1" fmla="*/ 1199515 w 1199515"/>
                <a:gd name="connsiteY1" fmla="*/ 0 h 740410"/>
                <a:gd name="connsiteX2" fmla="*/ 1199515 w 1199515"/>
                <a:gd name="connsiteY2" fmla="*/ 740410 h 740410"/>
                <a:gd name="connsiteX3" fmla="*/ 0 w 1199515"/>
                <a:gd name="connsiteY3" fmla="*/ 740410 h 740410"/>
                <a:gd name="connsiteX4" fmla="*/ 0 w 1199515"/>
                <a:gd name="connsiteY4" fmla="*/ 297503 h 740410"/>
                <a:gd name="connsiteX5" fmla="*/ 297503 w 1199515"/>
                <a:gd name="connsiteY5" fmla="*/ 0 h 740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99515" h="740410">
                  <a:moveTo>
                    <a:pt x="297503" y="0"/>
                  </a:moveTo>
                  <a:lnTo>
                    <a:pt x="1199515" y="0"/>
                  </a:lnTo>
                  <a:lnTo>
                    <a:pt x="1199515" y="740410"/>
                  </a:lnTo>
                  <a:lnTo>
                    <a:pt x="0" y="740410"/>
                  </a:lnTo>
                  <a:lnTo>
                    <a:pt x="0" y="297503"/>
                  </a:lnTo>
                  <a:cubicBezTo>
                    <a:pt x="0" y="133197"/>
                    <a:pt x="133197" y="0"/>
                    <a:pt x="297503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17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: 形状 15"/>
            <p:cNvSpPr/>
            <p:nvPr>
              <p:custDataLst>
                <p:tags r:id="rId8"/>
              </p:custDataLst>
            </p:nvPr>
          </p:nvSpPr>
          <p:spPr>
            <a:xfrm>
              <a:off x="9615170" y="6396990"/>
              <a:ext cx="893445" cy="461010"/>
            </a:xfrm>
            <a:custGeom>
              <a:avLst/>
              <a:gdLst>
                <a:gd name="connsiteX0" fmla="*/ 148910 w 893445"/>
                <a:gd name="connsiteY0" fmla="*/ 0 h 461010"/>
                <a:gd name="connsiteX1" fmla="*/ 744535 w 893445"/>
                <a:gd name="connsiteY1" fmla="*/ 0 h 461010"/>
                <a:gd name="connsiteX2" fmla="*/ 893445 w 893445"/>
                <a:gd name="connsiteY2" fmla="*/ 148910 h 461010"/>
                <a:gd name="connsiteX3" fmla="*/ 893445 w 893445"/>
                <a:gd name="connsiteY3" fmla="*/ 461010 h 461010"/>
                <a:gd name="connsiteX4" fmla="*/ 0 w 893445"/>
                <a:gd name="connsiteY4" fmla="*/ 461010 h 461010"/>
                <a:gd name="connsiteX5" fmla="*/ 0 w 893445"/>
                <a:gd name="connsiteY5" fmla="*/ 148910 h 461010"/>
                <a:gd name="connsiteX6" fmla="*/ 148910 w 893445"/>
                <a:gd name="connsiteY6" fmla="*/ 0 h 461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3445" h="461010">
                  <a:moveTo>
                    <a:pt x="148910" y="0"/>
                  </a:moveTo>
                  <a:lnTo>
                    <a:pt x="744535" y="0"/>
                  </a:lnTo>
                  <a:cubicBezTo>
                    <a:pt x="826776" y="0"/>
                    <a:pt x="893445" y="66669"/>
                    <a:pt x="893445" y="148910"/>
                  </a:cubicBezTo>
                  <a:lnTo>
                    <a:pt x="893445" y="461010"/>
                  </a:lnTo>
                  <a:lnTo>
                    <a:pt x="0" y="461010"/>
                  </a:lnTo>
                  <a:lnTo>
                    <a:pt x="0" y="148910"/>
                  </a:lnTo>
                  <a:cubicBezTo>
                    <a:pt x="0" y="66669"/>
                    <a:pt x="66669" y="0"/>
                    <a:pt x="148910" y="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/>
          <p:cNvGrpSpPr/>
          <p:nvPr userDrawn="1">
            <p:custDataLst>
              <p:tags r:id="rId9"/>
            </p:custDataLst>
          </p:nvPr>
        </p:nvGrpSpPr>
        <p:grpSpPr>
          <a:xfrm>
            <a:off x="0" y="5599612"/>
            <a:ext cx="1483360" cy="1258387"/>
            <a:chOff x="0" y="5110480"/>
            <a:chExt cx="2059940" cy="1747520"/>
          </a:xfrm>
        </p:grpSpPr>
        <p:sp>
          <p:nvSpPr>
            <p:cNvPr id="18" name="矩形: 圆角 17"/>
            <p:cNvSpPr/>
            <p:nvPr>
              <p:custDataLst>
                <p:tags r:id="rId10"/>
              </p:custDataLst>
            </p:nvPr>
          </p:nvSpPr>
          <p:spPr>
            <a:xfrm>
              <a:off x="0" y="6012815"/>
              <a:ext cx="670560" cy="67056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/>
            <p:cNvSpPr/>
            <p:nvPr>
              <p:custDataLst>
                <p:tags r:id="rId11"/>
              </p:custDataLst>
            </p:nvPr>
          </p:nvSpPr>
          <p:spPr>
            <a:xfrm>
              <a:off x="0" y="5110480"/>
              <a:ext cx="314960" cy="1339215"/>
            </a:xfrm>
            <a:custGeom>
              <a:avLst/>
              <a:gdLst>
                <a:gd name="connsiteX0" fmla="*/ 0 w 314960"/>
                <a:gd name="connsiteY0" fmla="*/ 0 h 1339215"/>
                <a:gd name="connsiteX1" fmla="*/ 91753 w 314960"/>
                <a:gd name="connsiteY1" fmla="*/ 0 h 1339215"/>
                <a:gd name="connsiteX2" fmla="*/ 314960 w 314960"/>
                <a:gd name="connsiteY2" fmla="*/ 223207 h 1339215"/>
                <a:gd name="connsiteX3" fmla="*/ 314960 w 314960"/>
                <a:gd name="connsiteY3" fmla="*/ 1116008 h 1339215"/>
                <a:gd name="connsiteX4" fmla="*/ 91753 w 314960"/>
                <a:gd name="connsiteY4" fmla="*/ 1339215 h 1339215"/>
                <a:gd name="connsiteX5" fmla="*/ 0 w 314960"/>
                <a:gd name="connsiteY5" fmla="*/ 1339215 h 1339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4960" h="1339215">
                  <a:moveTo>
                    <a:pt x="0" y="0"/>
                  </a:moveTo>
                  <a:lnTo>
                    <a:pt x="91753" y="0"/>
                  </a:lnTo>
                  <a:cubicBezTo>
                    <a:pt x="215027" y="0"/>
                    <a:pt x="314960" y="99933"/>
                    <a:pt x="314960" y="223207"/>
                  </a:cubicBezTo>
                  <a:lnTo>
                    <a:pt x="314960" y="1116008"/>
                  </a:lnTo>
                  <a:cubicBezTo>
                    <a:pt x="314960" y="1239282"/>
                    <a:pt x="215027" y="1339215"/>
                    <a:pt x="91753" y="1339215"/>
                  </a:cubicBezTo>
                  <a:lnTo>
                    <a:pt x="0" y="1339215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: 形状 19"/>
            <p:cNvSpPr/>
            <p:nvPr>
              <p:custDataLst>
                <p:tags r:id="rId12"/>
              </p:custDataLst>
            </p:nvPr>
          </p:nvSpPr>
          <p:spPr>
            <a:xfrm>
              <a:off x="940435" y="6435090"/>
              <a:ext cx="813435" cy="422910"/>
            </a:xfrm>
            <a:custGeom>
              <a:avLst/>
              <a:gdLst>
                <a:gd name="connsiteX0" fmla="*/ 135575 w 813435"/>
                <a:gd name="connsiteY0" fmla="*/ 0 h 422910"/>
                <a:gd name="connsiteX1" fmla="*/ 677860 w 813435"/>
                <a:gd name="connsiteY1" fmla="*/ 0 h 422910"/>
                <a:gd name="connsiteX2" fmla="*/ 813435 w 813435"/>
                <a:gd name="connsiteY2" fmla="*/ 135575 h 422910"/>
                <a:gd name="connsiteX3" fmla="*/ 813435 w 813435"/>
                <a:gd name="connsiteY3" fmla="*/ 422910 h 422910"/>
                <a:gd name="connsiteX4" fmla="*/ 0 w 813435"/>
                <a:gd name="connsiteY4" fmla="*/ 422910 h 422910"/>
                <a:gd name="connsiteX5" fmla="*/ 0 w 813435"/>
                <a:gd name="connsiteY5" fmla="*/ 135575 h 422910"/>
                <a:gd name="connsiteX6" fmla="*/ 135575 w 813435"/>
                <a:gd name="connsiteY6" fmla="*/ 0 h 42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3435" h="422910">
                  <a:moveTo>
                    <a:pt x="135575" y="0"/>
                  </a:moveTo>
                  <a:lnTo>
                    <a:pt x="677860" y="0"/>
                  </a:lnTo>
                  <a:cubicBezTo>
                    <a:pt x="752736" y="0"/>
                    <a:pt x="813435" y="60699"/>
                    <a:pt x="813435" y="135575"/>
                  </a:cubicBezTo>
                  <a:lnTo>
                    <a:pt x="813435" y="422910"/>
                  </a:lnTo>
                  <a:lnTo>
                    <a:pt x="0" y="422910"/>
                  </a:lnTo>
                  <a:lnTo>
                    <a:pt x="0" y="135575"/>
                  </a:lnTo>
                  <a:cubicBezTo>
                    <a:pt x="0" y="60699"/>
                    <a:pt x="60699" y="0"/>
                    <a:pt x="135575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矩形: 圆角 20"/>
            <p:cNvSpPr/>
            <p:nvPr>
              <p:custDataLst>
                <p:tags r:id="rId13"/>
              </p:custDataLst>
            </p:nvPr>
          </p:nvSpPr>
          <p:spPr>
            <a:xfrm>
              <a:off x="1400810" y="6024245"/>
              <a:ext cx="659130" cy="65913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: 圆角 21"/>
            <p:cNvSpPr/>
            <p:nvPr>
              <p:custDataLst>
                <p:tags r:id="rId14"/>
              </p:custDataLst>
            </p:nvPr>
          </p:nvSpPr>
          <p:spPr>
            <a:xfrm>
              <a:off x="796290" y="5449570"/>
              <a:ext cx="402590" cy="402590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bg1">
                  <a:alpha val="3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2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2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2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文结合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748609" y="1699063"/>
            <a:ext cx="4443955" cy="46437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图文结合 这里是文字主题</a:t>
            </a:r>
            <a:r>
              <a:rPr kumimoji="1" lang="en-US" altLang="zh-CN" dirty="0"/>
              <a:t>18</a:t>
            </a:r>
            <a:r>
              <a:rPr kumimoji="1" lang="zh-CN" altLang="en-US" dirty="0"/>
              <a:t>号</a:t>
            </a:r>
            <a:endParaRPr kumimoji="1" lang="zh-CN" altLang="en-US" dirty="0"/>
          </a:p>
        </p:txBody>
      </p:sp>
      <p:sp>
        <p:nvSpPr>
          <p:cNvPr id="8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748608" y="2377444"/>
            <a:ext cx="4443955" cy="14094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900"/>
              </a:lnSpc>
              <a:buNone/>
              <a:defRPr sz="1465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这里是一段解释说明文字，这里是一段解释说明文字，这里是一段解释说明文字，这里是一段解释说明文字 </a:t>
            </a:r>
            <a:r>
              <a:rPr kumimoji="1" lang="en-US" altLang="zh-CN" dirty="0"/>
              <a:t>11</a:t>
            </a:r>
            <a:r>
              <a:rPr kumimoji="1" lang="zh-CN" altLang="en-US" dirty="0"/>
              <a:t>号</a:t>
            </a:r>
            <a:endParaRPr kumimoji="1" lang="zh-CN" altLang="en-US" dirty="0"/>
          </a:p>
        </p:txBody>
      </p:sp>
      <p:sp>
        <p:nvSpPr>
          <p:cNvPr id="10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748609" y="3796035"/>
            <a:ext cx="2800879" cy="120421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8000" b="1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7999</a:t>
            </a:r>
            <a:endParaRPr kumimoji="1" lang="zh-CN" altLang="en-US" dirty="0"/>
          </a:p>
        </p:txBody>
      </p:sp>
      <p:pic>
        <p:nvPicPr>
          <p:cNvPr id="12" name="图片 11" descr="20190402-AIoT 中-RGB-彩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5691" y="6372520"/>
            <a:ext cx="708076" cy="481739"/>
          </a:xfrm>
          <a:prstGeom prst="rect">
            <a:avLst/>
          </a:prstGeom>
        </p:spPr>
      </p:pic>
      <p:pic>
        <p:nvPicPr>
          <p:cNvPr id="13" name="图片 12" descr="20190402-SKYWORTH 创导未来 中-03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37" y="21481"/>
            <a:ext cx="1222627" cy="390912"/>
          </a:xfrm>
          <a:prstGeom prst="rect">
            <a:avLst/>
          </a:prstGeom>
        </p:spPr>
      </p:pic>
      <p:sp>
        <p:nvSpPr>
          <p:cNvPr id="14" name="文本占位符 10"/>
          <p:cNvSpPr>
            <a:spLocks noGrp="1"/>
          </p:cNvSpPr>
          <p:nvPr>
            <p:ph type="body" sz="quarter" idx="15" hasCustomPrompt="1"/>
          </p:nvPr>
        </p:nvSpPr>
        <p:spPr>
          <a:xfrm>
            <a:off x="3327343" y="4526392"/>
            <a:ext cx="1681020" cy="597069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900"/>
              </a:lnSpc>
              <a:buNone/>
              <a:defRPr sz="1465" b="0" i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kumimoji="1" lang="zh-CN" altLang="en-US" dirty="0"/>
              <a:t>元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6" Type="http://schemas.openxmlformats.org/officeDocument/2006/relationships/theme" Target="../theme/theme2.xml"/><Relationship Id="rId25" Type="http://schemas.openxmlformats.org/officeDocument/2006/relationships/tags" Target="../tags/tag220.xml"/><Relationship Id="rId24" Type="http://schemas.openxmlformats.org/officeDocument/2006/relationships/tags" Target="../tags/tag219.xml"/><Relationship Id="rId23" Type="http://schemas.openxmlformats.org/officeDocument/2006/relationships/tags" Target="../tags/tag218.xml"/><Relationship Id="rId22" Type="http://schemas.openxmlformats.org/officeDocument/2006/relationships/tags" Target="../tags/tag217.xml"/><Relationship Id="rId21" Type="http://schemas.openxmlformats.org/officeDocument/2006/relationships/tags" Target="../tags/tag216.xml"/><Relationship Id="rId20" Type="http://schemas.openxmlformats.org/officeDocument/2006/relationships/tags" Target="../tags/tag215.xml"/><Relationship Id="rId2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" Type="http://schemas.openxmlformats.org/officeDocument/2006/relationships/tags" Target="../tags/tag22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chart" Target="../charts/chart2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241.xml"/><Relationship Id="rId7" Type="http://schemas.openxmlformats.org/officeDocument/2006/relationships/image" Target="../media/image9.png"/><Relationship Id="rId6" Type="http://schemas.openxmlformats.org/officeDocument/2006/relationships/tags" Target="../tags/tag240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23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24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tags" Target="../tags/tag243.xml"/><Relationship Id="rId1" Type="http://schemas.openxmlformats.org/officeDocument/2006/relationships/tags" Target="../tags/tag24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250.xml"/><Relationship Id="rId10" Type="http://schemas.openxmlformats.org/officeDocument/2006/relationships/image" Target="../media/image17.png"/><Relationship Id="rId1" Type="http://schemas.openxmlformats.org/officeDocument/2006/relationships/tags" Target="../tags/tag24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tags" Target="../tags/tag25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1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9" Type="http://schemas.openxmlformats.org/officeDocument/2006/relationships/slideLayout" Target="../slideLayouts/slideLayout31.xml"/><Relationship Id="rId18" Type="http://schemas.openxmlformats.org/officeDocument/2006/relationships/tags" Target="../tags/tag277.xml"/><Relationship Id="rId17" Type="http://schemas.openxmlformats.org/officeDocument/2006/relationships/tags" Target="../tags/tag276.xml"/><Relationship Id="rId16" Type="http://schemas.openxmlformats.org/officeDocument/2006/relationships/tags" Target="../tags/tag275.xml"/><Relationship Id="rId15" Type="http://schemas.openxmlformats.org/officeDocument/2006/relationships/tags" Target="../tags/tag274.xml"/><Relationship Id="rId14" Type="http://schemas.openxmlformats.org/officeDocument/2006/relationships/tags" Target="../tags/tag273.xml"/><Relationship Id="rId13" Type="http://schemas.openxmlformats.org/officeDocument/2006/relationships/tags" Target="../tags/tag272.xml"/><Relationship Id="rId12" Type="http://schemas.openxmlformats.org/officeDocument/2006/relationships/tags" Target="../tags/tag271.xml"/><Relationship Id="rId11" Type="http://schemas.openxmlformats.org/officeDocument/2006/relationships/tags" Target="../tags/tag270.xml"/><Relationship Id="rId10" Type="http://schemas.openxmlformats.org/officeDocument/2006/relationships/tags" Target="../tags/tag269.xml"/><Relationship Id="rId1" Type="http://schemas.openxmlformats.org/officeDocument/2006/relationships/tags" Target="../tags/tag26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0" Type="http://schemas.openxmlformats.org/officeDocument/2006/relationships/notesSlide" Target="../notesSlides/notesSlide6.xml"/><Relationship Id="rId2" Type="http://schemas.openxmlformats.org/officeDocument/2006/relationships/tags" Target="../tags/tag279.xml"/><Relationship Id="rId19" Type="http://schemas.openxmlformats.org/officeDocument/2006/relationships/slideLayout" Target="../slideLayouts/slideLayout31.xml"/><Relationship Id="rId18" Type="http://schemas.openxmlformats.org/officeDocument/2006/relationships/tags" Target="../tags/tag295.xml"/><Relationship Id="rId17" Type="http://schemas.openxmlformats.org/officeDocument/2006/relationships/tags" Target="../tags/tag294.xml"/><Relationship Id="rId16" Type="http://schemas.openxmlformats.org/officeDocument/2006/relationships/tags" Target="../tags/tag293.xml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tags" Target="../tags/tag290.xml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tags" Target="../tags/tag27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3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tags" Target="../tags/tag299.xml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" Type="http://schemas.openxmlformats.org/officeDocument/2006/relationships/tags" Target="../tags/tag296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31.xml"/><Relationship Id="rId4" Type="http://schemas.openxmlformats.org/officeDocument/2006/relationships/tags" Target="../tags/tag303.xml"/><Relationship Id="rId3" Type="http://schemas.openxmlformats.org/officeDocument/2006/relationships/tags" Target="../tags/tag302.xml"/><Relationship Id="rId2" Type="http://schemas.openxmlformats.org/officeDocument/2006/relationships/tags" Target="../tags/tag301.xml"/><Relationship Id="rId1" Type="http://schemas.openxmlformats.org/officeDocument/2006/relationships/tags" Target="../tags/tag3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139190" y="1807845"/>
            <a:ext cx="9931400" cy="2680970"/>
          </a:xfrm>
        </p:spPr>
        <p:txBody>
          <a:bodyPr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kumimoji="1" lang="zh-CN" altLang="en-US" sz="4800" b="1" dirty="0">
                <a:solidFill>
                  <a:schemeClr val="tx1"/>
                </a:solidFill>
                <a:sym typeface="+mn-ea"/>
              </a:rPr>
              <a:t>创维</a:t>
            </a:r>
            <a:r>
              <a:rPr kumimoji="1" lang="en-US" sz="4800" b="1" smtClean="0">
                <a:solidFill>
                  <a:schemeClr val="tx1"/>
                </a:solidFill>
                <a:sym typeface="+mn-ea"/>
              </a:rPr>
              <a:t>75A7FP</a:t>
            </a:r>
            <a:r>
              <a:rPr kumimoji="1" lang="en-US" altLang="zh-CN" sz="4800" b="1" dirty="0">
                <a:solidFill>
                  <a:schemeClr val="tx1"/>
                </a:solidFill>
                <a:sym typeface="+mn-ea"/>
              </a:rPr>
              <a:t> &amp; </a:t>
            </a:r>
            <a:r>
              <a:rPr kumimoji="1" lang="zh-CN" sz="4800" b="1" smtClean="0">
                <a:solidFill>
                  <a:schemeClr val="tx1"/>
                </a:solidFill>
                <a:sym typeface="+mn-ea"/>
              </a:rPr>
              <a:t>海信</a:t>
            </a:r>
            <a:r>
              <a:rPr kumimoji="1" lang="en-US" sz="4800" b="1" dirty="0">
                <a:solidFill>
                  <a:schemeClr val="tx1"/>
                </a:solidFill>
                <a:sym typeface="+mn-ea"/>
              </a:rPr>
              <a:t>75Q8E</a:t>
            </a:r>
            <a:r>
              <a:rPr kumimoji="1" lang="en-US" altLang="zh-CN" sz="4800" b="1" dirty="0">
                <a:solidFill>
                  <a:schemeClr val="tx1"/>
                </a:solidFill>
                <a:sym typeface="+mn-ea"/>
              </a:rPr>
              <a:t> </a:t>
            </a:r>
            <a:endParaRPr kumimoji="1" lang="en-US" altLang="zh-CN" sz="4800" b="1" dirty="0">
              <a:solidFill>
                <a:schemeClr val="tx1"/>
              </a:solidFill>
              <a:sym typeface="+mn-ea"/>
            </a:endParaRPr>
          </a:p>
          <a:p>
            <a:pPr lvl="0" algn="ctr">
              <a:lnSpc>
                <a:spcPct val="150000"/>
              </a:lnSpc>
            </a:pPr>
            <a:r>
              <a:rPr kumimoji="1" lang="zh-CN" altLang="en-US" sz="4800" b="1" dirty="0">
                <a:solidFill>
                  <a:schemeClr val="tx1"/>
                </a:solidFill>
                <a:sym typeface="+mn-ea"/>
              </a:rPr>
              <a:t>竞品分析</a:t>
            </a:r>
            <a:endParaRPr kumimoji="1" lang="zh-CN" altLang="en-US" sz="4800" b="1" dirty="0">
              <a:solidFill>
                <a:schemeClr val="tx1"/>
              </a:solidFill>
              <a:sym typeface="+mn-ea"/>
            </a:endParaRPr>
          </a:p>
          <a:p>
            <a:pPr lvl="0" algn="r"/>
            <a:endParaRPr kumimoji="1" lang="zh-CN" altLang="en-US" sz="48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占位符 1"/>
          <p:cNvSpPr>
            <a:spLocks noGrp="1"/>
          </p:cNvSpPr>
          <p:nvPr/>
        </p:nvSpPr>
        <p:spPr>
          <a:xfrm>
            <a:off x="3939223" y="5549900"/>
            <a:ext cx="4331335" cy="797560"/>
          </a:xfrm>
          <a:prstGeom prst="rect">
            <a:avLst/>
          </a:prstGeom>
        </p:spPr>
        <p:txBody>
          <a:bodyPr anchor="t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4000" b="0" i="0" kern="1200">
                <a:solidFill>
                  <a:srgbClr val="41B2DB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</a:pPr>
            <a:r>
              <a:rPr kumimoji="1" lang="zh-CN" sz="1800" dirty="0">
                <a:solidFill>
                  <a:schemeClr val="tx1"/>
                </a:solidFill>
                <a:sym typeface="+mn-ea"/>
              </a:rPr>
              <a:t>软件平台</a:t>
            </a:r>
            <a:r>
              <a:rPr kumimoji="1" lang="en-US" altLang="zh-CN" sz="1800" dirty="0">
                <a:solidFill>
                  <a:schemeClr val="tx1"/>
                </a:solidFill>
                <a:sym typeface="+mn-ea"/>
              </a:rPr>
              <a:t> </a:t>
            </a:r>
            <a:r>
              <a:rPr kumimoji="1" lang="zh-CN" altLang="en-US" sz="1800" dirty="0">
                <a:solidFill>
                  <a:schemeClr val="tx1"/>
                </a:solidFill>
                <a:sym typeface="+mn-ea"/>
              </a:rPr>
              <a:t>画质实验室</a:t>
            </a:r>
            <a:r>
              <a:rPr kumimoji="1" lang="en-US" altLang="zh-CN" sz="1800" dirty="0">
                <a:solidFill>
                  <a:schemeClr val="tx1"/>
                </a:solidFill>
                <a:sym typeface="+mn-ea"/>
              </a:rPr>
              <a:t>   2025.08</a:t>
            </a:r>
            <a:endParaRPr kumimoji="1" lang="en-US" altLang="zh-CN" sz="18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40890" y="378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文本框 139"/>
          <p:cNvSpPr txBox="1"/>
          <p:nvPr>
            <p:custDataLst>
              <p:tags r:id="rId1"/>
            </p:custDataLst>
          </p:nvPr>
        </p:nvSpPr>
        <p:spPr>
          <a:xfrm>
            <a:off x="3528846" y="2407059"/>
            <a:ext cx="5134307" cy="70675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 lnSpcReduction="20000"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PART  01</a:t>
            </a:r>
            <a:endParaRPr lang="en-US" altLang="zh-CN" sz="4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bIns="46800">
            <a:normAutofit fontScale="90000"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客观数据分析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529145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客观数据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总览</a:t>
            </a: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3"/>
            </p:custDataLst>
          </p:nvPr>
        </p:nvGraphicFramePr>
        <p:xfrm>
          <a:off x="445135" y="1497330"/>
          <a:ext cx="11254105" cy="46374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880"/>
                <a:gridCol w="1438275"/>
                <a:gridCol w="2024380"/>
                <a:gridCol w="1976120"/>
                <a:gridCol w="2917190"/>
                <a:gridCol w="1699260"/>
              </a:tblGrid>
              <a:tr h="295275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测试内容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 hMerge="1">
                  <a:tcPr>
                    <a:lnR w="635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海信</a:t>
                      </a:r>
                      <a:r>
                        <a:rPr kumimoji="1" lang="en-US" sz="1400" dirty="0">
                          <a:solidFill>
                            <a:schemeClr val="bg1"/>
                          </a:solidFill>
                          <a:sym typeface="+mn-ea"/>
                        </a:rPr>
                        <a:t>75E8</a:t>
                      </a:r>
                      <a:r>
                        <a:rPr kumimoji="1" lang="en-US" sz="1400" dirty="0">
                          <a:solidFill>
                            <a:schemeClr val="bg1"/>
                          </a:solidFill>
                          <a:sym typeface="+mn-ea"/>
                        </a:rPr>
                        <a:t>Q</a:t>
                      </a:r>
                      <a:endParaRPr kumimoji="1" lang="en-US" sz="1400" dirty="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创维</a:t>
                      </a:r>
                      <a:r>
                        <a:rPr kumimoji="1" lang="en-US" sz="1400" smtClean="0">
                          <a:solidFill>
                            <a:schemeClr val="bg1"/>
                          </a:solidFill>
                          <a:sym typeface="+mn-ea"/>
                        </a:rPr>
                        <a:t>75A7F Pro</a:t>
                      </a:r>
                      <a:endParaRPr kumimoji="1" lang="en-US" altLang="en-US" sz="1400" b="1" smtClean="0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结论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备注</a:t>
                      </a:r>
                      <a:endParaRPr lang="zh-CN" altLang="en-US" sz="14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B9BD5"/>
                    </a:solidFill>
                  </a:tcPr>
                </a:tc>
              </a:tr>
              <a:tr h="266065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LD分区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2880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2880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LD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分区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相同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08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刷新率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330Hz / 4k 170Hz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Hz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87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芯片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信息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9655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2886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9235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屏体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信息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730">
                <a:tc row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亮度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鲜艳模式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全白场亮度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765.24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737.38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海信全白场亮度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略高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576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黑场亮度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0.0663693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0.5214501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关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LD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下海信黑场亮度低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,</a:t>
                      </a:r>
                      <a:r>
                        <a:rPr lang="en-US" altLang="zh-CN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(E5NP</a:t>
                      </a:r>
                      <a:r>
                        <a:rPr lang="zh-CN" altLang="en-US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对比</a:t>
                      </a:r>
                      <a:r>
                        <a:rPr lang="en-US" altLang="zh-CN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A5FP</a:t>
                      </a:r>
                      <a:r>
                        <a:rPr lang="zh-CN" altLang="en-US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结果一致</a:t>
                      </a:r>
                      <a:r>
                        <a:rPr lang="en-US" altLang="zh-CN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,</a:t>
                      </a:r>
                      <a:r>
                        <a:rPr lang="zh-CN" altLang="en-US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猜测海信使用了</a:t>
                      </a:r>
                      <a:r>
                        <a:rPr lang="en-US" altLang="zh-CN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0D Dimming</a:t>
                      </a:r>
                      <a:r>
                        <a:rPr lang="zh-CN" altLang="en-US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技术</a:t>
                      </a:r>
                      <a:r>
                        <a:rPr lang="en-US" altLang="zh-CN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,</a:t>
                      </a:r>
                      <a:r>
                        <a:rPr lang="zh-CN" altLang="en-US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明显降低了全黑场亮度</a:t>
                      </a:r>
                      <a:r>
                        <a:rPr lang="en-US" altLang="zh-CN" sz="8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8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关LD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Real Scene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971.51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747.11108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Rtings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视频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46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稳态</a:t>
                      </a: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峰值亮度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1446.3</a:t>
                      </a:r>
                      <a:endParaRPr lang="en-US" altLang="zh-CN" sz="1000" b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2057.1</a:t>
                      </a:r>
                      <a:endParaRPr lang="en-US" altLang="en-US" sz="10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A7FP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稳态、瞬态峰值亮度数值均优于海信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E8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368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瞬态峰值亮度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5000+(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仅持续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1-2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秒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5000+(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可持续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秒</a:t>
                      </a: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)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86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黑体" panose="02010609060101010101" charset="-122"/>
                        </a:rPr>
                        <a:t>对比度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标准</a:t>
                      </a:r>
                      <a:endParaRPr lang="en-US" altLang="zh-CN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LD: </a:t>
                      </a:r>
                      <a:r>
                        <a:rPr lang="en-US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4222.88  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关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LD: 1901.11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LD: </a:t>
                      </a:r>
                      <a:r>
                        <a:rPr lang="en-US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4611.09  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关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LD: 1787.56</a:t>
                      </a:r>
                      <a:endParaRPr lang="en-US" alt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屏本体对比度海信略优于我司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,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但开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LD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后我司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更优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在</a:t>
                      </a:r>
                      <a:r>
                        <a:rPr lang="en-US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SJ/T 11746-2019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基础上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开关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LD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828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B w="635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鲜艳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LD: 4194.46</a:t>
                      </a:r>
                      <a:r>
                        <a:rPr lang="en-US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关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LD: 1875.6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开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LD: 4286.49</a:t>
                      </a:r>
                      <a:r>
                        <a:rPr lang="en-US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关</a:t>
                      </a: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LD: 1846.52</a:t>
                      </a: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795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色域</a:t>
                      </a:r>
                      <a:endParaRPr lang="zh-CN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（DCI-P3）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覆盖率（1976）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96.7%</a:t>
                      </a:r>
                      <a:endParaRPr 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97.6%</a:t>
                      </a:r>
                      <a:endParaRPr 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创维色域覆盖率和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面积比明显优于海信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79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面积比（1976）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110.2%</a:t>
                      </a:r>
                      <a:endParaRPr 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120.8%</a:t>
                      </a:r>
                      <a:endParaRPr lang="en-US" sz="100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色温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标准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7851.27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10525.24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>
                        <a:buNone/>
                      </a:pP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各模式下创维整体色温较海信偏</a:t>
                      </a:r>
                      <a:r>
                        <a:rPr lang="zh-CN" altLang="en-US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冷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80%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灰阶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956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鲜艳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9654.76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15930.40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0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影院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</a:rPr>
                        <a:t>6048.39</a:t>
                      </a:r>
                      <a:endParaRPr 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38100" indent="0"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6687.59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8417" marR="38417" marT="25717" marB="25717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b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24180" y="1129030"/>
            <a:ext cx="1099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客观数据上我司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75A7FP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在最高瞬态峰值亮度持续时间、开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LD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后对比度、色域上优于海信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75E8Q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5082540" y="1454150"/>
            <a:ext cx="6599555" cy="2562225"/>
          </a:xfrm>
          <a:prstGeom prst="roundRect">
            <a:avLst>
              <a:gd name="adj" fmla="val 222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5"/>
            </p:custDataLst>
          </p:nvPr>
        </p:nvGraphicFramePr>
        <p:xfrm>
          <a:off x="563245" y="1564005"/>
          <a:ext cx="4194810" cy="5008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/>
                <a:gridCol w="480695"/>
                <a:gridCol w="535305"/>
                <a:gridCol w="495300"/>
                <a:gridCol w="495935"/>
                <a:gridCol w="495300"/>
                <a:gridCol w="533400"/>
                <a:gridCol w="534670"/>
              </a:tblGrid>
              <a:tr h="263525">
                <a:tc rowSpan="2"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测试内容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2"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sz="900" b="1">
                          <a:latin typeface="Arial Bold" panose="020B0604020202090204" charset="0"/>
                          <a:cs typeface="Arial Bold" panose="020B0604020202090204" charset="0"/>
                        </a:rPr>
                        <a:t>75E</a:t>
                      </a:r>
                      <a:r>
                        <a:rPr lang="en-US" sz="900" b="1">
                          <a:latin typeface="Arial Bold" panose="020B0604020202090204" charset="0"/>
                          <a:cs typeface="Arial Bold" panose="020B0604020202090204" charset="0"/>
                        </a:rPr>
                        <a:t>8Q (20</a:t>
                      </a:r>
                      <a:r>
                        <a:rPr lang="zh-CN" altLang="en-US" sz="900" b="1">
                          <a:latin typeface="Arial Bold" panose="020B0604020202090204" charset="0"/>
                          <a:cs typeface="Arial Bold" panose="020B0604020202090204" charset="0"/>
                        </a:rPr>
                        <a:t>分钟</a:t>
                      </a:r>
                      <a:r>
                        <a:rPr lang="en-US" altLang="zh-CN" sz="900" b="1">
                          <a:latin typeface="Arial Bold" panose="020B0604020202090204" charset="0"/>
                          <a:cs typeface="Arial Bold" panose="020B0604020202090204" charset="0"/>
                        </a:rPr>
                        <a:t>)</a:t>
                      </a:r>
                      <a:endParaRPr lang="en-US" altLang="zh-CN" sz="900" b="1"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sz="900" b="1">
                          <a:latin typeface="Arial Bold" panose="020B0604020202090204" charset="0"/>
                          <a:cs typeface="Arial Bold" panose="020B0604020202090204" charset="0"/>
                        </a:rPr>
                        <a:t>75E</a:t>
                      </a:r>
                      <a:r>
                        <a:rPr lang="en-US" sz="900" b="1">
                          <a:latin typeface="Arial Bold" panose="020B0604020202090204" charset="0"/>
                          <a:cs typeface="Arial Bold" panose="020B0604020202090204" charset="0"/>
                        </a:rPr>
                        <a:t>8Q (1</a:t>
                      </a:r>
                      <a:r>
                        <a:rPr lang="zh-CN" altLang="en-US" sz="900" b="1">
                          <a:latin typeface="Arial Bold" panose="020B0604020202090204" charset="0"/>
                          <a:cs typeface="Arial Bold" panose="020B0604020202090204" charset="0"/>
                        </a:rPr>
                        <a:t>分钟</a:t>
                      </a:r>
                      <a:r>
                        <a:rPr lang="en-US" altLang="zh-CN" sz="900" b="1">
                          <a:latin typeface="Arial Bold" panose="020B0604020202090204" charset="0"/>
                          <a:cs typeface="Arial Bold" panose="020B0604020202090204" charset="0"/>
                        </a:rPr>
                        <a:t>)</a:t>
                      </a:r>
                      <a:endParaRPr lang="en-US" altLang="zh-CN" sz="900" b="1"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900" b="1">
                          <a:latin typeface="Arial Bold" panose="020B0604020202090204" charset="0"/>
                          <a:cs typeface="Arial Bold" panose="020B0604020202090204" charset="0"/>
                        </a:rPr>
                        <a:t>75A7F Pro</a:t>
                      </a:r>
                      <a:endParaRPr lang="en-US" altLang="en-US" sz="900" b="1"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28600">
                <a:tc vMerge="1" gridSpan="2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亮度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功率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亮度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功率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亮度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功率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3995">
                <a:tc rowSpan="21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Window（H）size</a:t>
                      </a:r>
                      <a:endParaRPr lang="zh-CN" altLang="en-US" sz="8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765.2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285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765.2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737.38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269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653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0.95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788.2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285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788.2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767.41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269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463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0.9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840.9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285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840.9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814.82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269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26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0.85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864.5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284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864.5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839.81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269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463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0.8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899.3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284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899.3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893.78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269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26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0.75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960.9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284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960.9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944.59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269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26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0.7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1034.8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283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1034.8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1012.2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268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463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0.65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1100.5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283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1100.5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1102.1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270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26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0.6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1184.2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1184.2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1155.3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269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26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0.55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1237.2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1237.2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1244.1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269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26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1283.5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1283.5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1388.1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269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399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0.45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1363.4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1363.4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1492.6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273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90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0.4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1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1446.3</a:t>
                      </a:r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1446.3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1653.1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273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26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0.35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681.2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128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1634.2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1810.1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272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26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0.3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731.2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128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1828.4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1881.2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266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463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0.25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826.6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129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2532.5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2057.1</a:t>
                      </a:r>
                      <a:endParaRPr lang="en-US" altLang="zh-CN" sz="800">
                        <a:highlight>
                          <a:srgbClr val="FFFF00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238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26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0.2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949.3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129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2497.1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1990.1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199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463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0.15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1087.7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129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2922.5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1897.2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160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90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0.1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1236.7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129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3866.1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1740.8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116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463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0.05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1071.9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2863.2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1459.4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73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15265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0.02</a:t>
                      </a:r>
                      <a:endParaRPr lang="en-US" altLang="en-US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910.9 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55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2042.3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1079.1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marL="12700" indent="0" algn="r" fontAlgn="ctr"/>
                      <a:r>
                        <a:rPr lang="en-US" altLang="zh-CN" sz="800">
                          <a:latin typeface="微软雅黑" panose="020B0503020204020204" charset="-122"/>
                          <a:ea typeface="微软雅黑" panose="020B0503020204020204" charset="-122"/>
                        </a:rPr>
                        <a:t>49</a:t>
                      </a:r>
                      <a:endParaRPr lang="en-US" altLang="zh-CN" sz="8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3017" marR="13017" marT="13017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384810" y="675640"/>
            <a:ext cx="1101153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客观数据细节项对比</a:t>
            </a:r>
            <a:r>
              <a:rPr 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SDR鲜艳默认模式亮度功率对比</a:t>
            </a:r>
            <a:endParaRPr lang="zh-CN" altLang="en-US" sz="12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图表 11"/>
          <p:cNvGraphicFramePr/>
          <p:nvPr/>
        </p:nvGraphicFramePr>
        <p:xfrm>
          <a:off x="5200650" y="1593215"/>
          <a:ext cx="6405880" cy="237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9659620" y="1575435"/>
            <a:ext cx="619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2057.1</a:t>
            </a:r>
            <a:endParaRPr lang="en-US" altLang="zh-CN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9147175" y="2288540"/>
            <a:ext cx="7213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</a:rPr>
              <a:t>1446.3</a:t>
            </a:r>
            <a:endParaRPr lang="en-US" altLang="zh-CN" sz="10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466725" y="1083310"/>
            <a:ext cx="8672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稳态峰值亮度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u="sng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小窗口亮度稳定并持续</a:t>
            </a:r>
            <a:r>
              <a:rPr lang="en-US" altLang="zh-CN" sz="1200" u="sng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zh-CN" altLang="en-US" sz="1200" u="sng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分钟后的亮度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(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峰值亮度设计规范中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我们定义持续时间超过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分钟为稳态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endParaRPr lang="en-US" altLang="zh-CN" sz="12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圆角矩形 1"/>
          <p:cNvSpPr/>
          <p:nvPr>
            <p:custDataLst>
              <p:tags r:id="rId9"/>
            </p:custDataLst>
          </p:nvPr>
        </p:nvSpPr>
        <p:spPr>
          <a:xfrm>
            <a:off x="5054600" y="4100830"/>
            <a:ext cx="6606540" cy="2491740"/>
          </a:xfrm>
          <a:prstGeom prst="roundRect">
            <a:avLst>
              <a:gd name="adj" fmla="val 222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graphicFrame>
        <p:nvGraphicFramePr>
          <p:cNvPr id="3" name="图表 2"/>
          <p:cNvGraphicFramePr/>
          <p:nvPr/>
        </p:nvGraphicFramePr>
        <p:xfrm>
          <a:off x="5200650" y="4149725"/>
          <a:ext cx="6348095" cy="2389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9638665" y="5342890"/>
            <a:ext cx="6191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2057.1</a:t>
            </a:r>
            <a:endParaRPr lang="en-US" altLang="zh-CN" sz="1000" b="1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10790555" y="4284980"/>
            <a:ext cx="7213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</a:rPr>
              <a:t>3866.1</a:t>
            </a:r>
            <a:endParaRPr lang="en-US" altLang="zh-CN" sz="1000" b="1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888936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客观数据细节项对比</a:t>
            </a:r>
            <a:r>
              <a:rPr 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海信各窗口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瞬态峰值亮度趋势</a:t>
            </a:r>
            <a:r>
              <a:rPr lang="en-US" altLang="zh-CN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(SDR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3"/>
            </p:custDataLst>
          </p:nvPr>
        </p:nvGraphicFramePr>
        <p:xfrm>
          <a:off x="484505" y="4670425"/>
          <a:ext cx="11162030" cy="1858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4730"/>
                <a:gridCol w="1014730"/>
                <a:gridCol w="1014730"/>
                <a:gridCol w="1014730"/>
                <a:gridCol w="1014730"/>
                <a:gridCol w="1014730"/>
                <a:gridCol w="1014730"/>
                <a:gridCol w="1014730"/>
                <a:gridCol w="1014730"/>
                <a:gridCol w="1014730"/>
                <a:gridCol w="1014730"/>
              </a:tblGrid>
              <a:tr h="2654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5%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7%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8%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15%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25%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35%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654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第一阶段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2028~2084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2863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2441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3515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2956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4938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3471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4109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3163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3008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2669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2550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2338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2162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2044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1844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1777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1645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1600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654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差值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+56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-422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-559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-1467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-946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-339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-212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-118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-67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-45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654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持续时间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290s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291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284s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284s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284s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654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第二阶段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1475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1567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1765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1816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2096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2097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2450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2298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2231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2127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1881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1883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1643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1642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1435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1437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1246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1263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1121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~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1130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654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差值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+92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+51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+1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-152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-104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+2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-1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+2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+17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+9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2654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持续时间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291s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291s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291s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290s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pic>
        <p:nvPicPr>
          <p:cNvPr id="22" name="图片 21" descr="截屏2025-07-14 16.30.57"/>
          <p:cNvPicPr>
            <a:picLocks noChangeAspect="1"/>
          </p:cNvPicPr>
          <p:nvPr/>
        </p:nvPicPr>
        <p:blipFill>
          <a:blip r:embed="rId4"/>
          <a:srcRect t="10505"/>
          <a:stretch>
            <a:fillRect/>
          </a:stretch>
        </p:blipFill>
        <p:spPr>
          <a:xfrm>
            <a:off x="4483100" y="2925445"/>
            <a:ext cx="3601720" cy="1574165"/>
          </a:xfrm>
          <a:prstGeom prst="rect">
            <a:avLst/>
          </a:prstGeom>
        </p:spPr>
      </p:pic>
      <p:pic>
        <p:nvPicPr>
          <p:cNvPr id="23" name="图片 22" descr="截屏2025-07-14 16.52.50"/>
          <p:cNvPicPr>
            <a:picLocks noChangeAspect="1"/>
          </p:cNvPicPr>
          <p:nvPr/>
        </p:nvPicPr>
        <p:blipFill>
          <a:blip r:embed="rId5"/>
          <a:srcRect t="9936"/>
          <a:stretch>
            <a:fillRect/>
          </a:stretch>
        </p:blipFill>
        <p:spPr>
          <a:xfrm>
            <a:off x="486410" y="2803525"/>
            <a:ext cx="3498215" cy="1576705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486410" y="1356360"/>
            <a:ext cx="7421245" cy="935355"/>
          </a:xfrm>
          <a:prstGeom prst="roundRect">
            <a:avLst>
              <a:gd name="adj" fmla="val 1118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668655" y="1510665"/>
            <a:ext cx="7239000" cy="659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SDR35%</a:t>
            </a:r>
            <a:r>
              <a:rPr lang="zh-CN" altLang="en-US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以下窗口呈阶梯式下降趋势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  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第一、二阶段各持续约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分钟左右后再次下降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第三阶段持续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分钟左右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后达到稳定状态。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621155" y="2409825"/>
            <a:ext cx="8026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75045" y="2409825"/>
            <a:ext cx="8026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35%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 descr="屏幕截图 2025-06-29 1646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1835" y="2781935"/>
            <a:ext cx="3310255" cy="1619250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9358630" y="2409825"/>
            <a:ext cx="80264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45%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8331835" y="1356360"/>
            <a:ext cx="3486785" cy="935355"/>
          </a:xfrm>
          <a:prstGeom prst="roundRect">
            <a:avLst>
              <a:gd name="adj" fmla="val 1118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8331835" y="1510665"/>
            <a:ext cx="3388360" cy="755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SDR35%</a:t>
            </a:r>
            <a:r>
              <a:rPr lang="zh-CN" altLang="en-US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窗口以上峰值亮度呈现缓慢下降趋势</a:t>
            </a:r>
            <a:r>
              <a:rPr lang="en-US" altLang="zh-CN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endParaRPr lang="en-US" altLang="zh-CN" sz="1200" u="sng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888936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客观数据细节项对比</a:t>
            </a:r>
            <a:r>
              <a:rPr 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海信瞬态峰值亮度设计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85" y="4554220"/>
            <a:ext cx="4323080" cy="1852930"/>
          </a:xfrm>
          <a:prstGeom prst="rect">
            <a:avLst/>
          </a:prstGeom>
        </p:spPr>
      </p:pic>
      <p:pic>
        <p:nvPicPr>
          <p:cNvPr id="4" name="图片 3" descr="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90" y="1905000"/>
            <a:ext cx="4192905" cy="2478405"/>
          </a:xfrm>
          <a:prstGeom prst="rect">
            <a:avLst/>
          </a:prstGeom>
        </p:spPr>
      </p:pic>
      <p:pic>
        <p:nvPicPr>
          <p:cNvPr id="6" name="图片 5" descr="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985" y="3843655"/>
            <a:ext cx="4960620" cy="223647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6158230" y="1543050"/>
            <a:ext cx="5358130" cy="1196975"/>
          </a:xfrm>
          <a:prstGeom prst="roundRect">
            <a:avLst>
              <a:gd name="adj" fmla="val 11185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6275070" y="1734820"/>
            <a:ext cx="5041265" cy="6591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200" b="1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逻辑</a:t>
            </a:r>
            <a:r>
              <a:rPr lang="zh-CN" altLang="en-US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：瞬态不累计时间，退出在进入小窗口</a:t>
            </a:r>
            <a:r>
              <a:rPr lang="en-US" altLang="zh-CN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SDR</a:t>
            </a:r>
            <a:r>
              <a:rPr lang="zh-CN" altLang="en-US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HDR</a:t>
            </a:r>
            <a:r>
              <a:rPr lang="zh-CN" altLang="en-US" sz="1200" u="sng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下均重新开始进入瞬态周期，但再次进入瞬态后亮度无法冲到首次进入瞬态的亮度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04900" y="1459230"/>
            <a:ext cx="413766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SDR 10%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瞬态周期切换画面停留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56985" y="3291205"/>
            <a:ext cx="240093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HDR 8%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窗口切换画面停留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888936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客观数据细节项对比</a:t>
            </a:r>
            <a:r>
              <a:rPr 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创维瞬态峰值亮度设计</a:t>
            </a:r>
            <a:endParaRPr lang="en-US" altLang="zh-CN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表格 16"/>
          <p:cNvGraphicFramePr/>
          <p:nvPr>
            <p:custDataLst>
              <p:tags r:id="rId3"/>
            </p:custDataLst>
          </p:nvPr>
        </p:nvGraphicFramePr>
        <p:xfrm>
          <a:off x="582295" y="2082165"/>
          <a:ext cx="8399780" cy="4112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6610"/>
                <a:gridCol w="702310"/>
                <a:gridCol w="920115"/>
                <a:gridCol w="995680"/>
                <a:gridCol w="820420"/>
                <a:gridCol w="4144645"/>
              </a:tblGrid>
              <a:tr h="3530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窗口大小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indent="0" algn="ctr" fontAlgn="t"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瞬态峰值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marL="0" indent="0" algn="ctr" fontAlgn="t"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瞬态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持续时间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marL="0" indent="0" algn="ctr" fontAlgn="t">
                        <a:spcAft>
                          <a:spcPct val="0"/>
                        </a:spcAft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稳态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时长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marL="0" indent="0" algn="ctr" fontAlgn="t">
                        <a:spcAft>
                          <a:spcPct val="0"/>
                        </a:spcAft>
                        <a:buNone/>
                      </a:pP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/>
                </a:tc>
              </a:tr>
              <a:tr h="624840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２０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以下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101600" indent="0" algn="ctr" fontAlgn="t">
                        <a:spcAft>
                          <a:spcPct val="0"/>
                        </a:spcAft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3426nit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01917" marR="101917" marT="51117" marB="51117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21s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155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以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2%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窗口为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例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643255">
                <a:tc vMerge="1"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5%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4137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nit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155s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690245">
                <a:tc vMerge="1"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10%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3967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nit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s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155s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algn="l">
                        <a:buNone/>
                      </a:pPr>
                      <a:endParaRPr lang="en-US" altLang="zh-CN" sz="10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t" anchorCtr="0"/>
                </a:tc>
              </a:tr>
              <a:tr h="688975">
                <a:tc vMerge="1"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15%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2600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nit</a:t>
                      </a:r>
                      <a:endParaRPr lang="en-US" altLang="zh-CN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1s</a:t>
                      </a:r>
                      <a:endParaRPr lang="en-US" altLang="zh-CN" sz="1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/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1111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20%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窗口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100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无瞬态</a:t>
                      </a: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 hMerge="1">
                  <a:tcPr anchor="ctr" anchorCtr="0"/>
                </a:tc>
                <a:tc hMerge="1"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000" b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532765" y="1276985"/>
            <a:ext cx="101034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我司瞬态持续时间随着窗口变大时间会略微变长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但</a:t>
            </a:r>
            <a:r>
              <a:rPr lang="zh-CN" altLang="en-US" sz="1200" b="1" u="sng">
                <a:latin typeface="微软雅黑" panose="020B0503020204020204" charset="-122"/>
                <a:ea typeface="微软雅黑" panose="020B0503020204020204" charset="-122"/>
                <a:sym typeface="+mn-ea"/>
              </a:rPr>
              <a:t>整体瞬态持续时长短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且进入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稳态固定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155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秒后会再次开启瞬态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15%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窗口仅会冲高一秒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,20%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以上窗口无瞬态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sz="12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图片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355" y="2456180"/>
            <a:ext cx="1786255" cy="1231265"/>
          </a:xfrm>
          <a:prstGeom prst="rect">
            <a:avLst/>
          </a:prstGeom>
        </p:spPr>
      </p:pic>
      <p:pic>
        <p:nvPicPr>
          <p:cNvPr id="3" name="图片 2" descr="图片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100" y="3741420"/>
            <a:ext cx="1898650" cy="1308735"/>
          </a:xfrm>
          <a:prstGeom prst="rect">
            <a:avLst/>
          </a:prstGeom>
        </p:spPr>
      </p:pic>
      <p:pic>
        <p:nvPicPr>
          <p:cNvPr id="8" name="图片 7" descr="图片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2510" y="5163185"/>
            <a:ext cx="1594485" cy="1012825"/>
          </a:xfrm>
          <a:prstGeom prst="rect">
            <a:avLst/>
          </a:prstGeom>
        </p:spPr>
      </p:pic>
      <p:pic>
        <p:nvPicPr>
          <p:cNvPr id="9" name="图片 8" descr="图片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4665" y="3789045"/>
            <a:ext cx="2060575" cy="1185545"/>
          </a:xfrm>
          <a:prstGeom prst="rect">
            <a:avLst/>
          </a:prstGeom>
        </p:spPr>
      </p:pic>
      <p:pic>
        <p:nvPicPr>
          <p:cNvPr id="14" name="图片 13" descr="截屏2025-07-14 17.47.1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5569" r="5482"/>
          <a:stretch>
            <a:fillRect/>
          </a:stretch>
        </p:blipFill>
        <p:spPr>
          <a:xfrm>
            <a:off x="9206865" y="2630170"/>
            <a:ext cx="2747645" cy="163703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9251950" y="2111375"/>
            <a:ext cx="139636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1000" b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创维瞬态设计</a:t>
            </a:r>
            <a:r>
              <a:rPr lang="zh-CN" altLang="en-US" sz="1000" b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规范</a:t>
            </a:r>
            <a:endParaRPr lang="zh-CN" altLang="en-US" sz="1000" b="1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61950" y="544195"/>
            <a:ext cx="888936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海信旧瞬态峰值亮度做法</a:t>
            </a:r>
            <a:r>
              <a:rPr lang="en-US" altLang="zh-CN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(85U7N/75E7N)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截屏2025-07-14 18.04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" y="1438275"/>
            <a:ext cx="10936605" cy="47085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文本框 139"/>
          <p:cNvSpPr txBox="1"/>
          <p:nvPr>
            <p:custDataLst>
              <p:tags r:id="rId1"/>
            </p:custDataLst>
          </p:nvPr>
        </p:nvSpPr>
        <p:spPr>
          <a:xfrm>
            <a:off x="3528846" y="2407059"/>
            <a:ext cx="5134307" cy="706755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 lnSpcReduction="20000"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PART  02</a:t>
            </a:r>
            <a:endParaRPr lang="en-US" altLang="zh-CN" sz="4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 bIns="46800">
            <a:normAutofit fontScale="90000"/>
          </a:bodyPr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主观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对比分析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391160" y="775970"/>
            <a:ext cx="6225540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主观对比分析总结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91160" y="1336040"/>
            <a:ext cx="11282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主观表现概述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通用模块创维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75A7FP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在清晰度、色彩及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LD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模块明显优于海信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75Q8E,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在降噪及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MEMC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模块我司缺点明显</a:t>
            </a:r>
            <a:r>
              <a:rPr lang="zh-CN" altLang="en-US" sz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5"/>
            </p:custDataLst>
          </p:nvPr>
        </p:nvGraphicFramePr>
        <p:xfrm>
          <a:off x="525780" y="2239010"/>
          <a:ext cx="6730365" cy="4032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9925"/>
                <a:gridCol w="3904615"/>
                <a:gridCol w="2155825"/>
              </a:tblGrid>
              <a:tr h="3505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</a:t>
                      </a:r>
                      <a:endParaRPr lang="zh-CN" altLang="en-US" sz="12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主观效果</a:t>
                      </a:r>
                      <a:endParaRPr lang="zh-CN" altLang="en-US" sz="12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200" b="1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后续措施</a:t>
                      </a:r>
                      <a:endParaRPr lang="zh-CN" altLang="en-US" sz="1200" b="1">
                        <a:solidFill>
                          <a:schemeClr val="bg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对比度</a:t>
                      </a:r>
                      <a:endParaRPr lang="zh-CN" alt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各有优劣势</a:t>
                      </a:r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 </a:t>
                      </a: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司</a:t>
                      </a:r>
                      <a:r>
                        <a:rPr lang="en-US" altLang="zh-CN" sz="1000" b="0" dirty="0" smtClean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SDR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下整体通透度更好，暗部细节与监视器更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解决</a:t>
                      </a:r>
                      <a:endParaRPr lang="zh-CN" altLang="en-US" sz="1000" b="0" dirty="0" smtClean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无需优化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99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清晰度</a:t>
                      </a:r>
                      <a:endParaRPr lang="zh-CN" alt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dirty="0" smtClean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创维草地等</a:t>
                      </a:r>
                      <a:r>
                        <a:rPr lang="en-US" altLang="zh-CN" sz="1000" dirty="0" err="1" smtClean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细节略多</a:t>
                      </a:r>
                      <a:r>
                        <a:rPr lang="en-US" altLang="zh-CN" sz="1000" dirty="0" err="1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lang="en-US" altLang="zh-CN" sz="1000" dirty="0" err="1" smtClean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但是</a:t>
                      </a:r>
                      <a:r>
                        <a:rPr lang="zh-CN" altLang="en-US" sz="1000" dirty="0" err="1" smtClean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近看</a:t>
                      </a:r>
                      <a:r>
                        <a:rPr lang="en-US" altLang="zh-CN" sz="1000" dirty="0" err="1" smtClean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overshoot/undershoot</a:t>
                      </a:r>
                      <a:r>
                        <a:rPr lang="zh-CN" altLang="en-US" sz="1000" dirty="0" err="1" smtClean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有副作用，能看得黑边</a:t>
                      </a:r>
                      <a:r>
                        <a:rPr lang="zh-CN" altLang="en-US" sz="1000" dirty="0" err="1" smtClean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点</a:t>
                      </a:r>
                      <a:endParaRPr lang="zh-CN" altLang="en-US" sz="1000" dirty="0" err="1" smtClean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标准下已降低清晰度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色彩</a:t>
                      </a:r>
                      <a:endParaRPr lang="zh-CN" alt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b="0" dirty="0" smtClean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整体很接近，我司肤色更为</a:t>
                      </a:r>
                      <a:r>
                        <a:rPr lang="zh-CN" altLang="en-US" sz="1000" b="0" dirty="0" smtClean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自然</a:t>
                      </a:r>
                      <a:endParaRPr lang="zh-CN" altLang="en-US" sz="1000" b="0" dirty="0" smtClean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无需优化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降噪</a:t>
                      </a:r>
                      <a:endParaRPr lang="zh-CN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000" dirty="0" smtClean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创维</a:t>
                      </a:r>
                      <a:r>
                        <a:rPr lang="zh-CN" altLang="en-US" sz="1000" dirty="0" smtClean="0">
                          <a:solidFill>
                            <a:srgbClr val="2020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decontour效果较好, 蚊状噪声海信更好</a:t>
                      </a:r>
                      <a:endParaRPr lang="zh-CN" altLang="en-US" sz="1000" dirty="0" smtClean="0">
                        <a:solidFill>
                          <a:srgbClr val="2020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无需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优化</a:t>
                      </a:r>
                      <a:endParaRPr lang="zh-CN" alt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18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LD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sz="10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海信光晕相对创维较为</a:t>
                      </a:r>
                      <a:r>
                        <a:rPr lang="zh-CN" sz="1000" b="0" dirty="0" smtClean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明显</a:t>
                      </a:r>
                      <a:endParaRPr lang="en-US" altLang="zh-CN" sz="1000" b="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无需优化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5B9BD5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MEMC</a:t>
                      </a:r>
                      <a:endParaRPr lang="en-US" altLang="en-US" sz="1000" b="1">
                        <a:solidFill>
                          <a:srgbClr val="5B9BD5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b="0" dirty="0" smtClean="0">
                          <a:solidFill>
                            <a:srgbClr val="5B9BD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都有副作用，</a:t>
                      </a:r>
                      <a:r>
                        <a:rPr lang="zh-CN" sz="1000" b="0" dirty="0" smtClean="0">
                          <a:solidFill>
                            <a:srgbClr val="5B9BD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</a:t>
                      </a:r>
                      <a:r>
                        <a:rPr lang="zh-CN" sz="1000" b="0" dirty="0">
                          <a:solidFill>
                            <a:srgbClr val="5B9BD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司</a:t>
                      </a:r>
                      <a:r>
                        <a:rPr lang="en-US" altLang="zh-CN" sz="1000" b="0" dirty="0">
                          <a:solidFill>
                            <a:srgbClr val="5B9BD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halo</a:t>
                      </a:r>
                      <a:r>
                        <a:rPr lang="zh-CN" altLang="en-US" sz="1000" b="0" dirty="0">
                          <a:solidFill>
                            <a:srgbClr val="5B9BD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更大</a:t>
                      </a:r>
                      <a:r>
                        <a:rPr lang="zh-CN" sz="1000" b="0" dirty="0" smtClean="0">
                          <a:solidFill>
                            <a:srgbClr val="5B9BD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lang="zh-CN" altLang="en-US" sz="1000" b="0" dirty="0" smtClean="0">
                          <a:solidFill>
                            <a:srgbClr val="5B9BD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破碎场景也更多些</a:t>
                      </a:r>
                      <a:endParaRPr lang="zh-CN" sz="1000" b="0" dirty="0">
                        <a:solidFill>
                          <a:srgbClr val="5B9BD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 font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相关片源已提供</a:t>
                      </a: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RTK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，此模块会持续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</a:t>
                      </a:r>
                      <a:endParaRPr lang="zh-CN" altLang="en-US" sz="1000" b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08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HDR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我司</a:t>
                      </a:r>
                      <a:r>
                        <a:rPr lang="en-US" altLang="zh-CN" sz="1000" b="0" dirty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HDR</a:t>
                      </a:r>
                      <a:r>
                        <a:rPr lang="zh-CN" altLang="en-US" sz="1000" b="0" dirty="0" smtClean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下高亮层次较少，</a:t>
                      </a:r>
                      <a:r>
                        <a:rPr lang="en-US" altLang="zh-CN" sz="1000" dirty="0" smtClean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HDR</a:t>
                      </a: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高亮会过早的</a:t>
                      </a:r>
                      <a:r>
                        <a:rPr lang="en-US" altLang="zh-CN" sz="1000" dirty="0" smtClean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clip</a:t>
                      </a: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掉，</a:t>
                      </a:r>
                      <a:r>
                        <a:rPr lang="zh-CN" altLang="en-US" sz="1000" dirty="0" smtClean="0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高亮高饱和的色彩偏淡，</a:t>
                      </a:r>
                      <a:endParaRPr lang="zh-CN" altLang="en-US" sz="1000" b="0" dirty="0" smtClean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RTK 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方案无每帧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的动态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ToneMapping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，已寄出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MTK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方案电视给</a:t>
                      </a: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RTK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台湾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" name="图表 2"/>
          <p:cNvGraphicFramePr/>
          <p:nvPr>
            <p:custDataLst>
              <p:tags r:id="rId6"/>
            </p:custDataLst>
          </p:nvPr>
        </p:nvGraphicFramePr>
        <p:xfrm>
          <a:off x="7341870" y="2240915"/>
          <a:ext cx="4250690" cy="41090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6225540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主观模块详解</a:t>
            </a:r>
            <a:r>
              <a:rPr 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>
            <p:custDataLst>
              <p:tags r:id="rId3"/>
            </p:custDataLst>
          </p:nvPr>
        </p:nvSpPr>
        <p:spPr>
          <a:xfrm flipV="1">
            <a:off x="808355" y="2219960"/>
            <a:ext cx="2508250" cy="379476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24" name="同侧圆角矩形 23"/>
          <p:cNvSpPr/>
          <p:nvPr>
            <p:custDataLst>
              <p:tags r:id="rId4"/>
            </p:custDataLst>
          </p:nvPr>
        </p:nvSpPr>
        <p:spPr>
          <a:xfrm>
            <a:off x="798830" y="1565275"/>
            <a:ext cx="2520950" cy="650240"/>
          </a:xfrm>
          <a:prstGeom prst="round2Same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1169670" y="1720850"/>
            <a:ext cx="1779270" cy="338455"/>
          </a:xfrm>
          <a:prstGeom prst="rect">
            <a:avLst/>
          </a:prstGeom>
          <a:noFill/>
        </p:spPr>
        <p:txBody>
          <a:bodyPr wrap="square" bIns="0" rtlCol="0" anchor="ctr" anchorCtr="0">
            <a:normAutofit fontScale="97500" lnSpcReduction="10000"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亮度主要表现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805180" y="2339047"/>
            <a:ext cx="2249805" cy="3251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lstStyle/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灰阶表现</a:t>
            </a:r>
            <a:r>
              <a:rPr lang="en-US" altLang="zh-CN" sz="1200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表现相当，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都可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分开。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zh-CN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SDR</a:t>
            </a: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整体亮度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创维全白场整体更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透亮（海信亮度不稳定，播静态图片也经常亮度突变）</a:t>
            </a:r>
            <a:endParaRPr lang="en-US" altLang="zh-CN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zh-CN" sz="1200" b="1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HDR</a:t>
            </a: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整体亮度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相当</a:t>
            </a:r>
            <a:endParaRPr lang="zh-CN" altLang="en-US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zh-CN" sz="1200" b="1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HDR</a:t>
            </a: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截断点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1000nit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，海信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4000nit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，创维在高亮画面会过曝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US" altLang="zh-CN" sz="1200" kern="0" spc="15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7"/>
            </p:custDataLst>
          </p:nvPr>
        </p:nvSpPr>
        <p:spPr>
          <a:xfrm flipV="1">
            <a:off x="8914130" y="2219960"/>
            <a:ext cx="2508250" cy="378269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34" name="同侧圆角矩形 33"/>
          <p:cNvSpPr/>
          <p:nvPr>
            <p:custDataLst>
              <p:tags r:id="rId8"/>
            </p:custDataLst>
          </p:nvPr>
        </p:nvSpPr>
        <p:spPr>
          <a:xfrm>
            <a:off x="8904605" y="1565275"/>
            <a:ext cx="2520950" cy="650240"/>
          </a:xfrm>
          <a:prstGeom prst="round2Same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9"/>
            </p:custDataLst>
          </p:nvPr>
        </p:nvSpPr>
        <p:spPr>
          <a:xfrm>
            <a:off x="9275445" y="1720850"/>
            <a:ext cx="1779270" cy="338455"/>
          </a:xfrm>
          <a:prstGeom prst="rect">
            <a:avLst/>
          </a:prstGeom>
          <a:noFill/>
        </p:spPr>
        <p:txBody>
          <a:bodyPr wrap="square" bIns="0" rtlCol="0" anchor="ctr" anchorCtr="0">
            <a:normAutofit fontScale="97500" lnSpcReduction="10000"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降噪主要表现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0"/>
            </p:custDataLst>
          </p:nvPr>
        </p:nvSpPr>
        <p:spPr>
          <a:xfrm>
            <a:off x="9107317" y="2316797"/>
            <a:ext cx="2250440" cy="3251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lstStyle/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椒盐噪声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创维噪点更</a:t>
            </a:r>
            <a:r>
              <a:rPr 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大。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去等高线能力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创维的</a:t>
            </a:r>
            <a:r>
              <a:rPr sz="12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decontour能力更强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，海信部分场景水波纹明显。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蚊状噪声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相当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MPEG-NR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海信略好</a:t>
            </a:r>
            <a:endParaRPr lang="en-US" altLang="zh-CN" sz="1200" dirty="0" err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降噪副作用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 smtClean="0">
                <a:solidFill>
                  <a:srgbClr val="202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均有轻微拖尾，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信拖尾更严重一些</a:t>
            </a:r>
            <a:endParaRPr lang="zh-CN" altLang="en-US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" name="矩形 39"/>
          <p:cNvSpPr/>
          <p:nvPr>
            <p:custDataLst>
              <p:tags r:id="rId11"/>
            </p:custDataLst>
          </p:nvPr>
        </p:nvSpPr>
        <p:spPr>
          <a:xfrm flipV="1">
            <a:off x="3510280" y="2219960"/>
            <a:ext cx="2508250" cy="379222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41" name="同侧圆角矩形 40"/>
          <p:cNvSpPr/>
          <p:nvPr>
            <p:custDataLst>
              <p:tags r:id="rId12"/>
            </p:custDataLst>
          </p:nvPr>
        </p:nvSpPr>
        <p:spPr>
          <a:xfrm>
            <a:off x="3500755" y="1565275"/>
            <a:ext cx="2520950" cy="650240"/>
          </a:xfrm>
          <a:prstGeom prst="round2Same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3"/>
            </p:custDataLst>
          </p:nvPr>
        </p:nvSpPr>
        <p:spPr>
          <a:xfrm>
            <a:off x="3776980" y="1720850"/>
            <a:ext cx="1969135" cy="338455"/>
          </a:xfrm>
          <a:prstGeom prst="rect">
            <a:avLst/>
          </a:prstGeom>
          <a:noFill/>
        </p:spPr>
        <p:txBody>
          <a:bodyPr wrap="square" bIns="0" rtlCol="0" anchor="ctr" anchorCtr="0">
            <a:normAutofit fontScale="97500" lnSpcReduction="10000"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清晰度主要表现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4"/>
            </p:custDataLst>
          </p:nvPr>
        </p:nvSpPr>
        <p:spPr>
          <a:xfrm>
            <a:off x="3616960" y="2329180"/>
            <a:ext cx="2243455" cy="3251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lstStyle/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锐利度表现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HDR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维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整体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锐利度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更好。</a:t>
            </a:r>
            <a:endParaRPr 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勾边表现</a:t>
            </a:r>
            <a:r>
              <a:rPr lang="en-US" altLang="zh-CN" sz="1200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创维头发丝等勾边轮廓清晰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细节表现力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创维草地等</a:t>
            </a:r>
            <a:r>
              <a:rPr lang="en-US" altLang="zh-CN" sz="1200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细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节略多，但是近看overshoot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undershoot有副作用，能看得黑白点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异常表现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高频闪烁均控制得比较好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15"/>
            </p:custDataLst>
          </p:nvPr>
        </p:nvSpPr>
        <p:spPr>
          <a:xfrm flipV="1">
            <a:off x="6212205" y="2219960"/>
            <a:ext cx="2508250" cy="378269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48" name="同侧圆角矩形 47"/>
          <p:cNvSpPr/>
          <p:nvPr>
            <p:custDataLst>
              <p:tags r:id="rId16"/>
            </p:custDataLst>
          </p:nvPr>
        </p:nvSpPr>
        <p:spPr>
          <a:xfrm>
            <a:off x="6202680" y="1565275"/>
            <a:ext cx="2520950" cy="650240"/>
          </a:xfrm>
          <a:prstGeom prst="round2Same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17"/>
            </p:custDataLst>
          </p:nvPr>
        </p:nvSpPr>
        <p:spPr>
          <a:xfrm>
            <a:off x="6531610" y="1720850"/>
            <a:ext cx="1863725" cy="338455"/>
          </a:xfrm>
          <a:prstGeom prst="rect">
            <a:avLst/>
          </a:prstGeom>
          <a:noFill/>
        </p:spPr>
        <p:txBody>
          <a:bodyPr wrap="square" bIns="0" rtlCol="0" anchor="ctr" anchorCtr="0">
            <a:normAutofit fontScale="90000"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对比度主要表现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8"/>
            </p:custDataLst>
          </p:nvPr>
        </p:nvSpPr>
        <p:spPr>
          <a:xfrm>
            <a:off x="6318885" y="2311400"/>
            <a:ext cx="2217420" cy="3251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lstStyle/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暗场细节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</a:t>
            </a:r>
            <a:r>
              <a:rPr sz="1200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暗场细节</a:t>
            </a:r>
            <a:r>
              <a:rPr lang="zh-CN" sz="1200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提亮较为明细，创维更像监视器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200" b="1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亮</a:t>
            </a: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场细节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HDR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</a:t>
            </a:r>
            <a:r>
              <a:rPr lang="zh-CN" altLang="en-US" sz="1200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</a:t>
            </a:r>
            <a:r>
              <a:rPr sz="1200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保留更多</a:t>
            </a:r>
            <a:r>
              <a:rPr 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亮</a:t>
            </a:r>
            <a:r>
              <a:rPr sz="12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场细节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en-US" altLang="zh-CN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200" b="1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景深</a:t>
            </a: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层次通透度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:SDR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下创维更好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动态画面副作用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海信从暗到亮部分场景会有轻微闪动。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6225540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主观模块详解</a:t>
            </a:r>
            <a:r>
              <a:rPr 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>
            <p:custDataLst>
              <p:tags r:id="rId3"/>
            </p:custDataLst>
          </p:nvPr>
        </p:nvSpPr>
        <p:spPr>
          <a:xfrm flipV="1">
            <a:off x="808355" y="2207260"/>
            <a:ext cx="2508250" cy="404939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24" name="同侧圆角矩形 23"/>
          <p:cNvSpPr/>
          <p:nvPr>
            <p:custDataLst>
              <p:tags r:id="rId4"/>
            </p:custDataLst>
          </p:nvPr>
        </p:nvSpPr>
        <p:spPr>
          <a:xfrm>
            <a:off x="798830" y="1552575"/>
            <a:ext cx="2520950" cy="650240"/>
          </a:xfrm>
          <a:prstGeom prst="round2Same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1169670" y="1708150"/>
            <a:ext cx="1779270" cy="338455"/>
          </a:xfrm>
          <a:prstGeom prst="rect">
            <a:avLst/>
          </a:prstGeom>
          <a:noFill/>
        </p:spPr>
        <p:txBody>
          <a:bodyPr wrap="square" bIns="0" rtlCol="0" anchor="ctr" anchorCtr="0">
            <a:normAutofit fontScale="97500" lnSpcReduction="10000"/>
          </a:bodyPr>
          <a:lstStyle/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色彩主要表现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834513" y="2285414"/>
            <a:ext cx="2262505" cy="38354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红</a:t>
            </a: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色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创维更艳丽，但轻微过曝。</a:t>
            </a:r>
            <a:endParaRPr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绿色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创维更艳丽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蓝色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创维更艳丽</a:t>
            </a:r>
            <a:endParaRPr lang="en-US" altLang="zh-CN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青色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创维更艳丽</a:t>
            </a:r>
            <a:endParaRPr lang="en-US" altLang="zh-CN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紫色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紫色略偏红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黄色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:,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相当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肤色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整体接近，</a:t>
            </a:r>
            <a:r>
              <a:rPr lang="en-US" altLang="zh-CN" sz="1200" dirty="0" err="1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创维肤色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更自然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1200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海信整体</a:t>
            </a:r>
            <a:r>
              <a:rPr lang="zh-CN" altLang="en-US" sz="1200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肤色偏红偏浓</a:t>
            </a:r>
            <a:endParaRPr lang="zh-CN" altLang="en-US" sz="1200" u="sng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7"/>
            </p:custDataLst>
          </p:nvPr>
        </p:nvSpPr>
        <p:spPr>
          <a:xfrm flipV="1">
            <a:off x="8914130" y="2207260"/>
            <a:ext cx="2508250" cy="406146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34" name="同侧圆角矩形 33"/>
          <p:cNvSpPr/>
          <p:nvPr>
            <p:custDataLst>
              <p:tags r:id="rId8"/>
            </p:custDataLst>
          </p:nvPr>
        </p:nvSpPr>
        <p:spPr>
          <a:xfrm>
            <a:off x="8904605" y="1552575"/>
            <a:ext cx="2520950" cy="650240"/>
          </a:xfrm>
          <a:prstGeom prst="round2Same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9"/>
            </p:custDataLst>
          </p:nvPr>
        </p:nvSpPr>
        <p:spPr>
          <a:xfrm>
            <a:off x="8958580" y="1708150"/>
            <a:ext cx="2381250" cy="338455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ctr"/>
            <a:r>
              <a:rPr lang="en-US" altLang="zh-CN" sz="17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LD&amp;Boost</a:t>
            </a:r>
            <a:r>
              <a:rPr lang="zh-CN" altLang="en-US" sz="17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主要表现</a:t>
            </a:r>
            <a:endParaRPr lang="zh-CN" altLang="en-US" sz="17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0"/>
            </p:custDataLst>
          </p:nvPr>
        </p:nvSpPr>
        <p:spPr>
          <a:xfrm>
            <a:off x="8957945" y="2272030"/>
            <a:ext cx="2381250" cy="3251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光晕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主观上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光晕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更大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数据补偿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主观视频均无明显问题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异常表现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场景切换两者都无异常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" name="矩形 39"/>
          <p:cNvSpPr/>
          <p:nvPr>
            <p:custDataLst>
              <p:tags r:id="rId11"/>
            </p:custDataLst>
          </p:nvPr>
        </p:nvSpPr>
        <p:spPr>
          <a:xfrm flipV="1">
            <a:off x="3510280" y="2207260"/>
            <a:ext cx="2508250" cy="4049395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41" name="同侧圆角矩形 40"/>
          <p:cNvSpPr/>
          <p:nvPr>
            <p:custDataLst>
              <p:tags r:id="rId12"/>
            </p:custDataLst>
          </p:nvPr>
        </p:nvSpPr>
        <p:spPr>
          <a:xfrm>
            <a:off x="3500755" y="1552575"/>
            <a:ext cx="2520950" cy="650240"/>
          </a:xfrm>
          <a:prstGeom prst="round2Same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3"/>
            </p:custDataLst>
          </p:nvPr>
        </p:nvSpPr>
        <p:spPr>
          <a:xfrm>
            <a:off x="3776980" y="1708150"/>
            <a:ext cx="1969135" cy="338455"/>
          </a:xfrm>
          <a:prstGeom prst="rect">
            <a:avLst/>
          </a:prstGeom>
          <a:noFill/>
        </p:spPr>
        <p:txBody>
          <a:bodyPr wrap="square" bIns="0" rtlCol="0" anchor="ctr" anchorCtr="0">
            <a:normAutofit fontScale="90000"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MEMC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主要表现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4"/>
            </p:custDataLst>
          </p:nvPr>
        </p:nvSpPr>
        <p:spPr>
          <a:xfrm>
            <a:off x="3544570" y="2272030"/>
            <a:ext cx="2393315" cy="325120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De-halo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</a:t>
            </a:r>
            <a:r>
              <a:rPr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halo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略大</a:t>
            </a:r>
            <a:endParaRPr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运动流畅度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信更流畅</a:t>
            </a:r>
            <a:endParaRPr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小物体保护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相当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字幕保护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相当</a:t>
            </a:r>
            <a:endParaRPr lang="en-US" altLang="zh-CN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破碎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创维更多</a:t>
            </a:r>
            <a:endParaRPr lang="en-US" altLang="zh-CN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200" b="1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letter-box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相当，均无明显异常</a:t>
            </a:r>
            <a:endParaRPr lang="en-US" altLang="zh-CN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场景切换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信更优，创维需要更多时间稳定</a:t>
            </a:r>
            <a:endParaRPr lang="zh-CN" altLang="en-US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7" name="矩形 46"/>
          <p:cNvSpPr/>
          <p:nvPr>
            <p:custDataLst>
              <p:tags r:id="rId15"/>
            </p:custDataLst>
          </p:nvPr>
        </p:nvSpPr>
        <p:spPr>
          <a:xfrm flipV="1">
            <a:off x="6212205" y="2207260"/>
            <a:ext cx="2508250" cy="4061460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48" name="同侧圆角矩形 47"/>
          <p:cNvSpPr/>
          <p:nvPr>
            <p:custDataLst>
              <p:tags r:id="rId16"/>
            </p:custDataLst>
          </p:nvPr>
        </p:nvSpPr>
        <p:spPr>
          <a:xfrm>
            <a:off x="6202680" y="1552575"/>
            <a:ext cx="2520950" cy="650240"/>
          </a:xfrm>
          <a:prstGeom prst="round2Same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17"/>
            </p:custDataLst>
          </p:nvPr>
        </p:nvSpPr>
        <p:spPr>
          <a:xfrm>
            <a:off x="6531610" y="1708150"/>
            <a:ext cx="1863725" cy="338455"/>
          </a:xfrm>
          <a:prstGeom prst="rect">
            <a:avLst/>
          </a:prstGeom>
          <a:noFill/>
        </p:spPr>
        <p:txBody>
          <a:bodyPr wrap="square" bIns="0" rtlCol="0" anchor="ctr" anchorCtr="0">
            <a:normAutofit fontScale="97500" lnSpcReduction="10000"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HDR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Regular" panose="020B0500000000000000" charset="-122"/>
              </a:rPr>
              <a:t>主要表现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思源黑体 CN Regular" panose="020B0500000000000000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8"/>
            </p:custDataLst>
          </p:nvPr>
        </p:nvSpPr>
        <p:spPr>
          <a:xfrm>
            <a:off x="6313488" y="2272030"/>
            <a:ext cx="2305685" cy="3879850"/>
          </a:xfrm>
          <a:prstGeom prst="rect">
            <a:avLst/>
          </a:prstGeom>
          <a:noFill/>
        </p:spPr>
        <p:txBody>
          <a:bodyPr wrap="square" lIns="90170" tIns="46990" rIns="90170" bIns="46990" rtlCol="0" anchor="t" anchorCtr="0">
            <a:noAutofit/>
          </a:bodyPr>
          <a:lstStyle/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暗场细节表现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:SDR下海信暗部细节略多，HDR下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创维保留更好，创维整体更像监视器</a:t>
            </a:r>
            <a:endParaRPr lang="en-US" altLang="zh-CN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亮</a:t>
            </a: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场细节表现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海信保留更多的细节</a:t>
            </a:r>
            <a:endParaRPr lang="zh-CN" altLang="en-US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主观对比度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相当</a:t>
            </a:r>
            <a:endParaRPr lang="en-US" altLang="zh-CN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肤色</a:t>
            </a: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还原度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海信偏红偏浓</a:t>
            </a:r>
            <a:endParaRPr lang="en-US" altLang="zh-CN" sz="1200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28600" indent="-228600" algn="just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 b="1" u="sng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</a:t>
            </a:r>
            <a:r>
              <a:rPr lang="zh-CN" altLang="en-US" sz="1200" b="1" u="sng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饱和色彩鲜艳度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 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海信更鲜艳，饱和度更高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/>
          <p:cNvSpPr/>
          <p:nvPr>
            <p:custDataLst>
              <p:tags r:id="rId1"/>
            </p:custDataLst>
          </p:nvPr>
        </p:nvSpPr>
        <p:spPr>
          <a:xfrm>
            <a:off x="6364923" y="2849880"/>
            <a:ext cx="5050155" cy="3331845"/>
          </a:xfrm>
          <a:prstGeom prst="roundRect">
            <a:avLst>
              <a:gd name="adj" fmla="val 2225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2" name="圆角矩形 11"/>
          <p:cNvSpPr/>
          <p:nvPr>
            <p:custDataLst>
              <p:tags r:id="rId2"/>
            </p:custDataLst>
          </p:nvPr>
        </p:nvSpPr>
        <p:spPr>
          <a:xfrm>
            <a:off x="714375" y="2849880"/>
            <a:ext cx="4919345" cy="3331845"/>
          </a:xfrm>
          <a:prstGeom prst="roundRect">
            <a:avLst>
              <a:gd name="adj" fmla="val 2225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342265" y="675640"/>
            <a:ext cx="964755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重点模块详解</a:t>
            </a:r>
            <a:r>
              <a:rPr 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</a:t>
            </a:r>
            <a:r>
              <a:rPr 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HDR</a:t>
            </a:r>
            <a:r>
              <a:rPr lang="zh-CN" altLang="en-US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亮度截断和高亮色彩</a:t>
            </a:r>
            <a:r>
              <a:rPr lang="en-US" altLang="zh-CN" dirty="0" smtClean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27685" y="1145540"/>
            <a:ext cx="1113663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播放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HDR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片源，我司在亮度上较早出现</a:t>
            </a:r>
            <a:r>
              <a:rPr lang="en-US" altLang="zh-CN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Clip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，色彩也会偏橘黄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分析</a:t>
            </a:r>
            <a:r>
              <a:rPr lang="zh-CN" altLang="en-US" sz="14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此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问题为方案目前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</a:t>
            </a:r>
            <a:r>
              <a:rPr lang="en-US" altLang="zh-CN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HDR </a:t>
            </a:r>
            <a:r>
              <a:rPr lang="en-US" altLang="zh-CN" sz="1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Tonemapping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算法上有缺陷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，无动态</a:t>
            </a:r>
            <a:r>
              <a:rPr lang="en-US" altLang="zh-CN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Tone</a:t>
            </a:r>
            <a:r>
              <a:rPr lang="en-US" altLang="zh-CN" sz="1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mapping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，另外在</a:t>
            </a:r>
            <a:r>
              <a:rPr lang="en-US" altLang="zh-CN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RGB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域做的</a:t>
            </a:r>
            <a:r>
              <a:rPr lang="en-US" altLang="zh-CN" sz="1400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Tonemapping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导致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高亮高饱和色彩产生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失真。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优化方向：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目前色彩通过拉动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EOTF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曲线与更改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ICM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可以短期内优化此问题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，长期需推动</a:t>
            </a:r>
            <a:r>
              <a:rPr lang="en-US" altLang="zh-CN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RTK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方案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公司优化算法解决。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Clip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问题已寄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MTK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方案给台湾。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r="3242"/>
          <a:stretch>
            <a:fillRect/>
          </a:stretch>
        </p:blipFill>
        <p:spPr>
          <a:xfrm>
            <a:off x="6520815" y="3385820"/>
            <a:ext cx="4738370" cy="26714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965" y="3385820"/>
            <a:ext cx="4622165" cy="267144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2631440" y="2981325"/>
            <a:ext cx="10852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创维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75A7FP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89620" y="2975610"/>
            <a:ext cx="10007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海信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75Q8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361950" y="698500"/>
            <a:ext cx="6225540" cy="800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价值点总结</a:t>
            </a:r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-1905" y="574675"/>
            <a:ext cx="159385" cy="631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649605" y="1334770"/>
            <a:ext cx="10667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4"/>
            </p:custDataLst>
          </p:nvPr>
        </p:nvGraphicFramePr>
        <p:xfrm>
          <a:off x="976630" y="1703070"/>
          <a:ext cx="10354945" cy="3198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18310"/>
                <a:gridCol w="3807460"/>
                <a:gridCol w="3276600"/>
                <a:gridCol w="1552575"/>
              </a:tblGrid>
              <a:tr h="6146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价值点名称</a:t>
                      </a:r>
                      <a:endParaRPr lang="zh-CN" altLang="en-US" sz="16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概述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预期收益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600">
                          <a:latin typeface="微软雅黑" panose="020B0503020204020204" charset="-122"/>
                          <a:ea typeface="微软雅黑" panose="020B0503020204020204" charset="-122"/>
                        </a:rPr>
                        <a:t>落地部门</a:t>
                      </a: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</a:tr>
              <a:tr h="1292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HDR</a:t>
                      </a:r>
                      <a:r>
                        <a:rPr lang="zh-CN" altLang="en-US" sz="14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优化</a:t>
                      </a:r>
                      <a:endParaRPr lang="zh-CN" altLang="en-US" sz="14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 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HDR亮度映射调试优化。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 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HDR色调偏问题优化跟踪。</a:t>
                      </a:r>
                      <a:endParaRPr lang="en-US" altLang="zh-CN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为用户提供更沉浸的</a:t>
                      </a:r>
                      <a:r>
                        <a:rPr lang="en-US" altLang="zh-CN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HDR</a:t>
                      </a: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画质观看体验，提升品牌画质竞争力。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画质</a:t>
                      </a:r>
                      <a:endParaRPr lang="zh-CN" altLang="en-US" sz="14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91590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400" dirty="0" smtClean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HDR</a:t>
                      </a:r>
                      <a:r>
                        <a:rPr lang="zh-CN" altLang="en-US" sz="1400" dirty="0" smtClean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测试图片识别</a:t>
                      </a:r>
                      <a:endParaRPr lang="zh-CN" altLang="en-US" sz="1400" dirty="0" smtClean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 smtClean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海信针对客观测试的窗口画面做了图片识别，可以测试到更好的</a:t>
                      </a:r>
                      <a:r>
                        <a:rPr lang="en-US" altLang="zh-CN" sz="1400" dirty="0" smtClean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EOTF</a:t>
                      </a:r>
                      <a:r>
                        <a:rPr lang="zh-CN" altLang="en-US" sz="1400" dirty="0" smtClean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</a:t>
                      </a:r>
                      <a:endParaRPr lang="zh-CN" altLang="en-US" sz="1400" dirty="0" smtClean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更灵活的应对评测和认证</a:t>
                      </a:r>
                      <a:endParaRPr lang="zh-CN" altLang="en-US" sz="140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400" dirty="0" smtClean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软件</a:t>
                      </a:r>
                      <a:r>
                        <a:rPr lang="en-US" altLang="zh-CN" sz="1400" dirty="0" smtClean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400" dirty="0" smtClean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画质</a:t>
                      </a:r>
                      <a:endParaRPr lang="zh-CN" altLang="en-US" sz="1400" dirty="0" smtClean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general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general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general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general"/>
</p:tagLst>
</file>

<file path=ppt/tags/tag12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frame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frame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frame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frame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frame"/>
  <p:tag name="KSO_WM_SLIDE_BK_DARK_LIGHT" val="2"/>
</p:tagLst>
</file>

<file path=ppt/tags/tag13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leftRigh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leftRight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leftRight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leftRight"/>
  <p:tag name="KSO_WM_SLIDE_BK_DARK_LIGHT" val="2"/>
</p:tagLst>
</file>

<file path=ppt/tags/tag1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topBottom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topBottom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topBottom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2"/>
  <p:tag name="KSO_WM_UNIT_LAYERLEVEL" val="1"/>
  <p:tag name="KSO_WM_TAG_VERSION" val="1.0"/>
  <p:tag name="KSO_WM_BEAUTIFY_FLAG" val="#wm#"/>
  <p:tag name="KSO_WM_UNIT_TYPE" val="i"/>
  <p:tag name="KSO_WM_UNIT_INDEX" val="12"/>
  <p:tag name="KSO_WM_SLIDE_BACKGROUND_TYPE" val="topBottom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6"/>
  <p:tag name="KSO_WM_UNIT_LAYERLEVEL" val="1"/>
  <p:tag name="KSO_WM_TAG_VERSION" val="1.0"/>
  <p:tag name="KSO_WM_BEAUTIFY_FLAG" val="#wm#"/>
  <p:tag name="KSO_WM_UNIT_TYPE" val="i"/>
  <p:tag name="KSO_WM_UNIT_INDEX" val="16"/>
  <p:tag name="KSO_WM_SLIDE_BACKGROUND_TYPE" val="topBottom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7"/>
  <p:tag name="KSO_WM_UNIT_LAYERLEVEL" val="1"/>
  <p:tag name="KSO_WM_TAG_VERSION" val="1.0"/>
  <p:tag name="KSO_WM_BEAUTIFY_FLAG" val="#wm#"/>
  <p:tag name="KSO_WM_UNIT_TYPE" val="i"/>
  <p:tag name="KSO_WM_UNIT_INDEX" val="17"/>
  <p:tag name="KSO_WM_SLIDE_BACKGROUND_TYPE" val="topBottom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5"/>
  <p:tag name="KSO_WM_UNIT_LAYERLEVEL" val="1"/>
  <p:tag name="KSO_WM_TAG_VERSION" val="1.0"/>
  <p:tag name="KSO_WM_BEAUTIFY_FLAG" val="#wm#"/>
  <p:tag name="KSO_WM_UNIT_TYPE" val="i"/>
  <p:tag name="KSO_WM_UNIT_INDEX" val="15"/>
  <p:tag name="KSO_WM_SLIDE_BACKGROUND_TYPE" val="topBottom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8"/>
  <p:tag name="KSO_WM_UNIT_LAYERLEVEL" val="1"/>
  <p:tag name="KSO_WM_TAG_VERSION" val="1.0"/>
  <p:tag name="KSO_WM_BEAUTIFY_FLAG" val="#wm#"/>
  <p:tag name="KSO_WM_UNIT_TYPE" val="i"/>
  <p:tag name="KSO_WM_UNIT_INDEX" val="18"/>
  <p:tag name="KSO_WM_SLIDE_BACKGROUND_TYPE" val="topBottom"/>
  <p:tag name="KSO_WM_SLIDE_BK_DARK_LIGHT" val="2"/>
</p:tagLst>
</file>

<file path=ppt/tags/tag16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bottomTop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bottomTop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bottomTop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bottomTop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2"/>
  <p:tag name="KSO_WM_UNIT_LAYERLEVEL" val="1"/>
  <p:tag name="KSO_WM_TAG_VERSION" val="1.0"/>
  <p:tag name="KSO_WM_BEAUTIFY_FLAG" val="#wm#"/>
  <p:tag name="KSO_WM_UNIT_TYPE" val="i"/>
  <p:tag name="KSO_WM_UNIT_INDEX" val="12"/>
  <p:tag name="KSO_WM_SLIDE_BACKGROUND_TYPE" val="bottomTop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6"/>
  <p:tag name="KSO_WM_UNIT_LAYERLEVEL" val="1"/>
  <p:tag name="KSO_WM_TAG_VERSION" val="1.0"/>
  <p:tag name="KSO_WM_BEAUTIFY_FLAG" val="#wm#"/>
  <p:tag name="KSO_WM_UNIT_TYPE" val="i"/>
  <p:tag name="KSO_WM_UNIT_INDEX" val="16"/>
  <p:tag name="KSO_WM_SLIDE_BACKGROUND_TYPE" val="bottomTop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7"/>
  <p:tag name="KSO_WM_UNIT_LAYERLEVEL" val="1"/>
  <p:tag name="KSO_WM_TAG_VERSION" val="1.0"/>
  <p:tag name="KSO_WM_BEAUTIFY_FLAG" val="#wm#"/>
  <p:tag name="KSO_WM_UNIT_TYPE" val="i"/>
  <p:tag name="KSO_WM_UNIT_INDEX" val="17"/>
  <p:tag name="KSO_WM_SLIDE_BACKGROUND_TYPE" val="bottomTop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5"/>
  <p:tag name="KSO_WM_UNIT_LAYERLEVEL" val="1"/>
  <p:tag name="KSO_WM_TAG_VERSION" val="1.0"/>
  <p:tag name="KSO_WM_BEAUTIFY_FLAG" val="#wm#"/>
  <p:tag name="KSO_WM_UNIT_TYPE" val="i"/>
  <p:tag name="KSO_WM_UNIT_INDEX" val="15"/>
  <p:tag name="KSO_WM_SLIDE_BACKGROUND_TYPE" val="bottomTop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8"/>
  <p:tag name="KSO_WM_UNIT_LAYERLEVEL" val="1"/>
  <p:tag name="KSO_WM_TAG_VERSION" val="1.0"/>
  <p:tag name="KSO_WM_BEAUTIFY_FLAG" val="#wm#"/>
  <p:tag name="KSO_WM_UNIT_TYPE" val="i"/>
  <p:tag name="KSO_WM_UNIT_INDEX" val="18"/>
  <p:tag name="KSO_WM_SLIDE_BACKGROUND_TYPE" val="bottomTop"/>
  <p:tag name="KSO_WM_SLIDE_BK_DARK_LIGHT" val="2"/>
</p:tagLst>
</file>

<file path=ppt/tags/tag18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9"/>
  <p:tag name="KSO_WM_UNIT_LAYERLEVEL" val="1"/>
  <p:tag name="KSO_WM_TAG_VERSION" val="1.0"/>
  <p:tag name="KSO_WM_BEAUTIFY_FLAG" val="#wm#"/>
  <p:tag name="KSO_WM_UNIT_TYPE" val="i"/>
  <p:tag name="KSO_WM_UNIT_INDEX" val="19"/>
  <p:tag name="KSO_WM_SLIDE_BACKGROUND_TYPE" val="navigation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0"/>
  <p:tag name="KSO_WM_UNIT_LAYERLEVEL" val="1"/>
  <p:tag name="KSO_WM_TAG_VERSION" val="1.0"/>
  <p:tag name="KSO_WM_BEAUTIFY_FLAG" val="#wm#"/>
  <p:tag name="KSO_WM_UNIT_TYPE" val="i"/>
  <p:tag name="KSO_WM_UNIT_INDEX" val="20"/>
  <p:tag name="KSO_WM_SLIDE_BACKGROUND_TYPE" val="navigation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1"/>
  <p:tag name="KSO_WM_UNIT_LAYERLEVEL" val="1"/>
  <p:tag name="KSO_WM_TAG_VERSION" val="1.0"/>
  <p:tag name="KSO_WM_BEAUTIFY_FLAG" val="#wm#"/>
  <p:tag name="KSO_WM_UNIT_TYPE" val="i"/>
  <p:tag name="KSO_WM_UNIT_INDEX" val="21"/>
  <p:tag name="KSO_WM_SLIDE_BACKGROUND_TYPE" val="navigation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navigation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2"/>
  <p:tag name="KSO_WM_UNIT_LAYERLEVEL" val="1"/>
  <p:tag name="KSO_WM_TAG_VERSION" val="1.0"/>
  <p:tag name="KSO_WM_BEAUTIFY_FLAG" val="#wm#"/>
  <p:tag name="KSO_WM_UNIT_TYPE" val="i"/>
  <p:tag name="KSO_WM_UNIT_INDEX" val="12"/>
  <p:tag name="KSO_WM_SLIDE_BACKGROUND_TYPE" val="navigation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6"/>
  <p:tag name="KSO_WM_UNIT_LAYERLEVEL" val="1"/>
  <p:tag name="KSO_WM_TAG_VERSION" val="1.0"/>
  <p:tag name="KSO_WM_BEAUTIFY_FLAG" val="#wm#"/>
  <p:tag name="KSO_WM_UNIT_TYPE" val="i"/>
  <p:tag name="KSO_WM_UNIT_INDEX" val="16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7"/>
  <p:tag name="KSO_WM_UNIT_LAYERLEVEL" val="1"/>
  <p:tag name="KSO_WM_TAG_VERSION" val="1.0"/>
  <p:tag name="KSO_WM_BEAUTIFY_FLAG" val="#wm#"/>
  <p:tag name="KSO_WM_UNIT_TYPE" val="i"/>
  <p:tag name="KSO_WM_UNIT_INDEX" val="17"/>
  <p:tag name="KSO_WM_SLIDE_BACKGROUND_TYPE" val="navigation"/>
  <p:tag name="KSO_WM_SLIDE_BK_DARK_LIGHT" val="2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5"/>
  <p:tag name="KSO_WM_UNIT_LAYERLEVEL" val="1"/>
  <p:tag name="KSO_WM_TAG_VERSION" val="1.0"/>
  <p:tag name="KSO_WM_BEAUTIFY_FLAG" val="#wm#"/>
  <p:tag name="KSO_WM_UNIT_TYPE" val="i"/>
  <p:tag name="KSO_WM_UNIT_INDEX" val="15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8"/>
  <p:tag name="KSO_WM_UNIT_LAYERLEVEL" val="1"/>
  <p:tag name="KSO_WM_TAG_VERSION" val="1.0"/>
  <p:tag name="KSO_WM_BEAUTIFY_FLAG" val="#wm#"/>
  <p:tag name="KSO_WM_UNIT_TYPE" val="i"/>
  <p:tag name="KSO_WM_UNIT_INDEX" val="18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1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314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314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TEMPLATE_SUBCATEGORY" val="0"/>
  <p:tag name="KSO_WM_TAG_VERSION" val="1.0"/>
  <p:tag name="KSO_WM_BEAUTIFY_FLAG" val="#wm#"/>
  <p:tag name="KSO_WM_TEMPLATE_CATEGORY" val="custom"/>
  <p:tag name="KSO_WM_TEMPLATE_INDEX" val="20202314"/>
  <p:tag name="KSO_WM_TEMPLATE_THUMBS_INDEX" val="1、5、6、8、9、10、13、14"/>
  <p:tag name="KSO_WM_TEMPLATE_MASTER_TYPE" val="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314_7*e*1"/>
  <p:tag name="KSO_WM_TEMPLATE_CATEGORY" val="custom"/>
  <p:tag name="KSO_WM_TEMPLATE_INDEX" val="20202314"/>
  <p:tag name="KSO_WM_UNIT_LAYERLEVEL" val="1"/>
  <p:tag name="KSO_WM_TAG_VERSION" val="1.0"/>
  <p:tag name="KSO_WM_BEAUTIFY_FLAG" val="#wm#"/>
  <p:tag name="KSO_WM_UNIT_PRESET_TEXT" val="PART  01"/>
  <p:tag name="KSO_WM_UNIT_NOCLEAR" val="0"/>
  <p:tag name="KSO_WM_UNIT_VALUE" val="10"/>
  <p:tag name="KSO_WM_UNIT_TYPE" val="e"/>
  <p:tag name="KSO_WM_UNIT_INDEX" val="1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314_7*a*1"/>
  <p:tag name="KSO_WM_TEMPLATE_CATEGORY" val="custom"/>
  <p:tag name="KSO_WM_TEMPLATE_INDEX" val="20202314"/>
  <p:tag name="KSO_WM_UNIT_LAYERLEVEL" val="1"/>
  <p:tag name="KSO_WM_TAG_VERSION" val="1.0"/>
  <p:tag name="KSO_WM_BEAUTIFY_FLAG" val="#wm#"/>
  <p:tag name="KSO_WM_UNIT_ISCONTENTSTITLE" val="0"/>
  <p:tag name="KSO_WM_UNIT_PRESET_TEXT" val="单击此处添加标题"/>
  <p:tag name="KSO_WM_UNIT_NOCLEAR" val="0"/>
  <p:tag name="KSO_WM_UNIT_VALUE" val="9"/>
  <p:tag name="KSO_WM_UNIT_TYPE" val="a"/>
  <p:tag name="KSO_WM_UNIT_INDEX" val="1"/>
  <p:tag name="KSO_WM_UNIT_ISNUMDGMTITLE" val="0"/>
</p:tagLst>
</file>

<file path=ppt/tags/tag223.xml><?xml version="1.0" encoding="utf-8"?>
<p:tagLst xmlns:p="http://schemas.openxmlformats.org/presentationml/2006/main">
  <p:tag name="KSO_WM_SLIDE_ID" val="custom20202314_7"/>
  <p:tag name="KSO_WM_TEMPLATE_SUBCATEGORY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2314"/>
  <p:tag name="KSO_WM_SLIDE_TYPE" val="sectionTitle"/>
  <p:tag name="KSO_WM_SLIDE_SUBTYPE" val="pureTxt"/>
  <p:tag name="KSO_WM_SLIDE_LAYOUT" val="a_e"/>
  <p:tag name="KSO_WM_SLIDE_LAYOUT_CNT" val="1_1"/>
  <p:tag name="KSO_WM_TEMPLATE_MASTER_TYPE" val="1"/>
  <p:tag name="KSO_WM_TEMPLATE_COLOR_TYPE" val="0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TABLE_ENDDRAG_ORIGIN_RECT" val="886*364"/>
  <p:tag name="TABLE_ENDDRAG_RECT" val="35*117*886*364"/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TABLE_ENDDRAG_ORIGIN_RECT" val="330*374"/>
  <p:tag name="TABLE_ENDDRAG_RECT" val="44*123*330*374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TABLE_ENDDRAG_ORIGIN_RECT" val="878*145"/>
  <p:tag name="TABLE_ENDDRAG_RECT" val="38*368*878*146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TABLE_ENDDRAG_ORIGIN_RECT" val="884*323"/>
  <p:tag name="TABLE_ENDDRAG_RECT" val="43*177*884*323"/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314_7*e*1"/>
  <p:tag name="KSO_WM_TEMPLATE_CATEGORY" val="custom"/>
  <p:tag name="KSO_WM_TEMPLATE_INDEX" val="20202314"/>
  <p:tag name="KSO_WM_UNIT_LAYERLEVEL" val="1"/>
  <p:tag name="KSO_WM_TAG_VERSION" val="1.0"/>
  <p:tag name="KSO_WM_BEAUTIFY_FLAG" val="#wm#"/>
  <p:tag name="KSO_WM_UNIT_PRESET_TEXT" val="PART  01"/>
  <p:tag name="KSO_WM_UNIT_NOCLEAR" val="0"/>
  <p:tag name="KSO_WM_UNIT_VALUE" val="10"/>
  <p:tag name="KSO_WM_UNIT_TYPE" val="e"/>
  <p:tag name="KSO_WM_UNIT_INDEX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314_7*a*1"/>
  <p:tag name="KSO_WM_TEMPLATE_CATEGORY" val="custom"/>
  <p:tag name="KSO_WM_TEMPLATE_INDEX" val="20202314"/>
  <p:tag name="KSO_WM_UNIT_LAYERLEVEL" val="1"/>
  <p:tag name="KSO_WM_TAG_VERSION" val="1.0"/>
  <p:tag name="KSO_WM_BEAUTIFY_FLAG" val="#wm#"/>
  <p:tag name="KSO_WM_UNIT_ISCONTENTSTITLE" val="0"/>
  <p:tag name="KSO_WM_UNIT_PRESET_TEXT" val="单击此处添加标题"/>
  <p:tag name="KSO_WM_UNIT_NOCLEAR" val="0"/>
  <p:tag name="KSO_WM_UNIT_VALUE" val="9"/>
  <p:tag name="KSO_WM_UNIT_TYPE" val="a"/>
  <p:tag name="KSO_WM_UNIT_INDEX" val="1"/>
  <p:tag name="KSO_WM_UNIT_ISNUMDGMTITLE" val="0"/>
</p:tagLst>
</file>

<file path=ppt/tags/tag254.xml><?xml version="1.0" encoding="utf-8"?>
<p:tagLst xmlns:p="http://schemas.openxmlformats.org/presentationml/2006/main">
  <p:tag name="KSO_WM_SLIDE_ID" val="custom20202314_7"/>
  <p:tag name="KSO_WM_TEMPLATE_SUBCATEGORY" val="0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2314"/>
  <p:tag name="KSO_WM_SLIDE_TYPE" val="sectionTitle"/>
  <p:tag name="KSO_WM_SLIDE_SUBTYPE" val="pureTxt"/>
  <p:tag name="KSO_WM_SLIDE_LAYOUT" val="a_e"/>
  <p:tag name="KSO_WM_SLIDE_LAYOUT_CNT" val="1_1"/>
  <p:tag name="KSO_WM_TEMPLATE_MASTER_TYPE" val="1"/>
  <p:tag name="KSO_WM_TEMPLATE_COLOR_TYPE" val="0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TABLE_ENDDRAG_ORIGIN_RECT" val="536*333"/>
  <p:tag name="TABLE_ENDDRAG_RECT" val="35*170*536*333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91_4*l_h_i*1_1_3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91_4*l_h_i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28091_4*l_h_i*1_1_2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65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91_4*l_h_f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91_4*l_h_i*1_1_3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91_4*l_h_i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28091_4*l_h_i*1_1_2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69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91_4*l_h_f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91_4*l_h_i*1_1_3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91_4*l_h_i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28091_4*l_h_i*1_1_2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73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91_4*l_h_f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91_4*l_h_i*1_1_3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91_4*l_h_i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28091_4*l_h_i*1_1_2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77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91_4*l_h_f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91_4*l_h_i*1_1_3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91_4*l_h_i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28091_4*l_h_i*1_1_2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83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91_4*l_h_f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91_4*l_h_i*1_1_3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91_4*l_h_i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28091_4*l_h_i*1_1_2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87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91_4*l_h_f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91_4*l_h_i*1_1_3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91_4*l_h_i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28091_4*l_h_i*1_1_2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91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91_4*l_h_f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28091_4*l_h_i*1_1_3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91_4*l_h_i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diagram20228091_4*l_h_i*1_1_2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95.xml><?xml version="1.0" encoding="utf-8"?>
<p:tagLst xmlns:p="http://schemas.openxmlformats.org/presentationml/2006/main">
  <p:tag name="KSO_WM_UNIT_SUBTYPE" val="a"/>
  <p:tag name="KSO_WM_UNIT_PRESET_TEXT" val="单击此处输入你的正文，文字是您思想的提炼，为了最终演示发布的良好效果，请尽量言简意赅的阐述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28091_4*l_h_f*1_1_1"/>
  <p:tag name="KSO_WM_TEMPLATE_CATEGORY" val="diagram"/>
  <p:tag name="KSO_WM_TEMPLATE_INDEX" val="20228091"/>
  <p:tag name="KSO_WM_UNIT_LAYERLEVEL" val="1_1_1"/>
  <p:tag name="KSO_WM_TAG_VERSION" val="1.0"/>
  <p:tag name="KSO_WM_BEAUTIFY_FLAG" val=""/>
  <p:tag name="KSO_WM_DIAGRAM_VIRTUALLY_FRAME" val="{&quot;height&quot;:382.15,&quot;left&quot;:62.9,&quot;top&quot;:127.65,&quot;width&quot;:198.75}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TABLE_ENDDRAG_ORIGIN_RECT" val="815*251"/>
  <p:tag name="TABLE_ENDDRAG_RECT" val="76*134*815*25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7">
      <a:dk1>
        <a:sysClr val="windowText" lastClr="000000"/>
      </a:dk1>
      <a:lt1>
        <a:sysClr val="window" lastClr="FFFFFF"/>
      </a:lt1>
      <a:dk2>
        <a:srgbClr val="E0EDF6"/>
      </a:dk2>
      <a:lt2>
        <a:srgbClr val="FFFFFF"/>
      </a:lt2>
      <a:accent1>
        <a:srgbClr val="005EA7"/>
      </a:accent1>
      <a:accent2>
        <a:srgbClr val="3C81BE"/>
      </a:accent2>
      <a:accent3>
        <a:srgbClr val="68A5D4"/>
      </a:accent3>
      <a:accent4>
        <a:srgbClr val="789FDA"/>
      </a:accent4>
      <a:accent5>
        <a:srgbClr val="9464B3"/>
      </a:accent5>
      <a:accent6>
        <a:srgbClr val="A7005E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18.1">
    <a:dk1>
      <a:srgbClr val="000000"/>
    </a:dk1>
    <a:lt1>
      <a:srgbClr val="FFFFFF"/>
    </a:lt1>
    <a:dk2>
      <a:srgbClr val="300025"/>
    </a:dk2>
    <a:lt2>
      <a:srgbClr val="FFFFFF"/>
    </a:lt2>
    <a:accent1>
      <a:srgbClr val="FCC400"/>
    </a:accent1>
    <a:accent2>
      <a:srgbClr val="FF8D41"/>
    </a:accent2>
    <a:accent3>
      <a:srgbClr val="F08BB4"/>
    </a:accent3>
    <a:accent4>
      <a:srgbClr val="4EC9F6"/>
    </a:accent4>
    <a:accent5>
      <a:srgbClr val="5B8FF9"/>
    </a:accent5>
    <a:accent6>
      <a:srgbClr val="7262FD"/>
    </a:accent6>
    <a:hlink>
      <a:srgbClr val="0563C1"/>
    </a:hlink>
    <a:folHlink>
      <a:srgbClr val="954D72"/>
    </a:folHlink>
  </a:clrScheme>
  <a:fontScheme name="Office Classic 2">
    <a:majorFont>
      <a:latin typeface="Arial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ajorFont>
    <a:minorFont>
      <a:latin typeface="Arial"/>
      <a:ea typeface=""/>
      <a:cs typeface=""/>
      <a:font script="Jpan" typeface="ＭＳ Ｐゴシック"/>
      <a:font script="Hang" typeface="굴림"/>
      <a:font script="Hans" typeface="黑体"/>
      <a:font script="Hant" typeface="微軟正黑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4507</Words>
  <Application>WPS 演示</Application>
  <PresentationFormat>宽屏</PresentationFormat>
  <Paragraphs>982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Arial</vt:lpstr>
      <vt:lpstr>黑体</vt:lpstr>
      <vt:lpstr>Arial Bold</vt:lpstr>
      <vt:lpstr>思源黑体 CN Regular</vt:lpstr>
      <vt:lpstr>Arial Unicode MS</vt:lpstr>
      <vt:lpstr>Arial Black</vt:lpstr>
      <vt:lpstr>Office 主题​​</vt:lpstr>
      <vt:lpstr>1_Office 主题​​</vt:lpstr>
      <vt:lpstr>PowerPoint 演示文稿</vt:lpstr>
      <vt:lpstr>客观数据分析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主观对比分析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40</cp:revision>
  <dcterms:created xsi:type="dcterms:W3CDTF">2025-07-15T05:43:00Z</dcterms:created>
  <dcterms:modified xsi:type="dcterms:W3CDTF">2025-09-05T05:58:28Z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2052-11.8.2.11718</vt:lpwstr>
  </property>
  <property fmtid="{D5CDD505-2E9C-101B-9397-08002B2CF9AE}" pid="3" name="ICV">
    <vt:lpwstr>104BC3044F6F42019D1FF4FB1A5AD093</vt:lpwstr>
  </property>
</Properties>
</file>