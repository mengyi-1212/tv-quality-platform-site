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开场：今天汇报的重点不是再做一次论文分享，而是把之前关于感知亮度、瞳孔和视网膜成像亮度的研读，进一步落到一个可以实验验证、可以形成电视产品策略的人眼舒适亮度模型。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背景。电视行业常见说法是峰值亮度、HDR亮度、画质参数，但真实家庭场景非常复杂。白天、客厅、夜间、HDR高光和字幕，对人的感受完全不同。所以我们要解决的不是单纯亮度更高，而是在不同场景下找到舒适亮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这一页承接原PPT中的人眼结构和明暗视觉。关键要讲清楚：屏幕物理亮度不是用户感受到的亮度。人眼在不同光环境下会切换视觉状态，瞳孔和感光细胞敏感度变化，会让同样的电视亮度产生完全不同的感受。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是整个项目的理论中心。之前论文最有价值的点，是把感知亮度从主观描述转成可计算的视网膜成像亮度。它告诉我们：用户觉得亮不亮，不只取决于屏幕亮度，而是屏幕亮度乘以瞳孔面积，也就是进入眼睛的有效光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这一页要强调不要把护眼简单理解为降低亮度。亮度太低会看不清，亮度太高会刺眼。我们的目标是找到最舒适的视网膜刺激区间，并让电视的亮度、高光、字幕和暗部细节围绕这个区间动态调节。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这一页讲模型结构。它不是单变量自动亮度，而是一个四层系统：输入层采集环境光和视频内容，生理层估算瞳孔和视网膜亮度，舒适评价层判断刺眼、字幕、高光和疲劳，最后输出电视可控制的背光、Gamma、Tone Mapping等参数。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这一页讲执行路径。我们不建议一开始就做大而全，而是先用静态实验复现论文机制，再建立舒适度函数，再进入真实电视内容，最后与传统自动亮度做A/B对比。这样每一步都有明确输出和验收标准。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这一页讲数据怎么来。眼动仪的价值在于记录瞳孔直径和注视区域。我们会把眼动数据、电视画面亮度数据、环境照度和用户评分做时间对齐，这样主观的舒适和刺眼就能被转化成可训练、可验证的模型数据。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讲项目价值。最终不是只给某个模式调高或调低亮度，而是形成数据库、模型和算法。它可以落到夜间模式、字幕柔光、HDR舒适、高龄用户画质，以及用户长期偏好学习。这样对产品、算法和画质都有可用价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后收束到下一步。建议先不要铺太大，先做六到八周MVP。要的支持包括场地、设备、电视样机、画质与算法协作、被试和内容数据工具。最后强调这件事的价值是把亮度策略从经验调参变成有生理依据、有实验数据的模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39800" y="1188720"/>
            <a:ext cx="6583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</a:t>
            </a:r>
            <a:endParaRPr lang="en-US" sz="34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939800" y="1984248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DEB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项目汇报方案</a:t>
            </a:r>
            <a:endParaRPr lang="en-US" sz="2500" b="1" dirty="0">
              <a:solidFill>
                <a:srgbClr val="BDEB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39800" y="2697480"/>
            <a:ext cx="67665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8E8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从“屏幕物理亮度”到“视网膜舒适刺激”</a:t>
            </a:r>
            <a:endParaRPr lang="en-US" sz="1700" dirty="0">
              <a:solidFill>
                <a:srgbClr val="D8E8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8001000" y="1188720"/>
            <a:ext cx="3566160" cy="3566160"/>
            <a:chOff x="12600" y="1656"/>
            <a:chExt cx="5616" cy="5616"/>
          </a:xfrm>
        </p:grpSpPr>
        <p:sp>
          <p:nvSpPr>
            <p:cNvPr id="5" name="Shape 3"/>
            <p:cNvSpPr/>
            <p:nvPr/>
          </p:nvSpPr>
          <p:spPr>
            <a:xfrm>
              <a:off x="12600" y="1656"/>
              <a:ext cx="5616" cy="5616"/>
            </a:xfrm>
            <a:prstGeom prst="arc">
              <a:avLst/>
            </a:prstGeom>
            <a:noFill/>
            <a:ln w="101600">
              <a:solidFill>
                <a:srgbClr val="1C7ED6">
                  <a:alpha val="90000"/>
                </a:srgbClr>
              </a:solidFill>
              <a:prstDash val="solid"/>
            </a:ln>
          </p:spPr>
        </p:sp>
        <p:sp>
          <p:nvSpPr>
            <p:cNvPr id="6" name="Shape 4"/>
            <p:cNvSpPr/>
            <p:nvPr/>
          </p:nvSpPr>
          <p:spPr>
            <a:xfrm rot="10800000">
              <a:off x="13536" y="2592"/>
              <a:ext cx="3744" cy="3744"/>
            </a:xfrm>
            <a:prstGeom prst="arc">
              <a:avLst/>
            </a:prstGeom>
            <a:noFill/>
            <a:ln w="76200">
              <a:solidFill>
                <a:srgbClr val="00C2D1">
                  <a:alpha val="95000"/>
                </a:srgbClr>
              </a:solidFill>
              <a:prstDash val="solid"/>
            </a:ln>
          </p:spPr>
        </p:sp>
        <p:sp>
          <p:nvSpPr>
            <p:cNvPr id="7" name="Shape 5"/>
            <p:cNvSpPr/>
            <p:nvPr/>
          </p:nvSpPr>
          <p:spPr>
            <a:xfrm>
              <a:off x="14832" y="3917"/>
              <a:ext cx="1123" cy="1123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</p:sp>
        <p:sp>
          <p:nvSpPr>
            <p:cNvPr id="8" name="Shape 6"/>
            <p:cNvSpPr/>
            <p:nvPr/>
          </p:nvSpPr>
          <p:spPr>
            <a:xfrm>
              <a:off x="15149" y="4234"/>
              <a:ext cx="490" cy="490"/>
            </a:xfrm>
            <a:prstGeom prst="ellipse">
              <a:avLst/>
            </a:prstGeom>
            <a:solidFill>
              <a:srgbClr val="0B1628"/>
            </a:solidFill>
            <a:ln w="12700">
              <a:solidFill>
                <a:srgbClr val="0B1628"/>
              </a:solidFill>
              <a:prstDash val="solid"/>
            </a:ln>
          </p:spPr>
        </p:sp>
      </p:grpSp>
      <p:sp>
        <p:nvSpPr>
          <p:cNvPr id="9" name="Text 7"/>
          <p:cNvSpPr/>
          <p:nvPr/>
        </p:nvSpPr>
        <p:spPr>
          <a:xfrm>
            <a:off x="731520" y="4069080"/>
            <a:ext cx="4214495" cy="932815"/>
          </a:xfrm>
          <a:prstGeom prst="rect">
            <a:avLst/>
          </a:prstGeom>
          <a:solidFill>
            <a:srgbClr val="10233F"/>
          </a:solidFill>
          <a:ln w="8890">
            <a:solidFill>
              <a:srgbClr val="29516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B6C6D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杨梦依 · 视觉感知维度下的亮度研究延展</a:t>
            </a:r>
            <a:endParaRPr lang="en-US" sz="1400" dirty="0">
              <a:solidFill>
                <a:srgbClr val="B6C6D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为什么需要做人眼舒适亮度模型？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21462" y="1298448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行业在比“更亮”，用户真正需要的是“看得清、看得久、不刺眼”。</a:t>
            </a:r>
            <a:endParaRPr lang="en-US" sz="17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854710" y="1993392"/>
            <a:ext cx="2240280" cy="1097280"/>
          </a:xfrm>
          <a:prstGeom prst="rect">
            <a:avLst/>
          </a:prstGeom>
          <a:solidFill>
            <a:srgbClr val="F2F8FF"/>
          </a:solidFill>
          <a:ln w="13970">
            <a:solidFill>
              <a:srgbClr val="CB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白天强光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看不清 / 发灰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415030" y="1993392"/>
            <a:ext cx="2331720" cy="1097280"/>
          </a:xfrm>
          <a:prstGeom prst="rect">
            <a:avLst/>
          </a:prstGeom>
          <a:solidFill>
            <a:srgbClr val="F4FFFC"/>
          </a:solidFill>
          <a:ln w="13970">
            <a:solidFill>
              <a:srgbClr val="CD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客厅柔光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清晰与舒适平衡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66790" y="1993392"/>
            <a:ext cx="2240280" cy="1097280"/>
          </a:xfrm>
          <a:prstGeom prst="rect">
            <a:avLst/>
          </a:prstGeom>
          <a:solidFill>
            <a:srgbClr val="FFF8EC"/>
          </a:solidFill>
          <a:ln w="13970">
            <a:solidFill>
              <a:srgbClr val="F7D99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夜间暗光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刺眼 / 疲劳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27110" y="1993392"/>
            <a:ext cx="2331720" cy="1097280"/>
          </a:xfrm>
          <a:prstGeom prst="rect">
            <a:avLst/>
          </a:prstGeom>
          <a:solidFill>
            <a:srgbClr val="FFF5F5"/>
          </a:solidFill>
          <a:ln w="13970">
            <a:solidFill>
              <a:srgbClr val="F6C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HDR / 字幕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瞬时高光风险</a:t>
            </a:r>
            <a:endParaRPr lang="en-US" sz="1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57830" y="2542032"/>
            <a:ext cx="338328" cy="0"/>
          </a:xfrm>
          <a:prstGeom prst="line">
            <a:avLst/>
          </a:prstGeom>
          <a:noFill/>
          <a:ln w="1651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655310" y="2542032"/>
            <a:ext cx="338328" cy="0"/>
          </a:xfrm>
          <a:prstGeom prst="line">
            <a:avLst/>
          </a:prstGeom>
          <a:noFill/>
          <a:ln w="1651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288782" y="2542032"/>
            <a:ext cx="246888" cy="0"/>
          </a:xfrm>
          <a:prstGeom prst="line">
            <a:avLst/>
          </a:prstGeom>
          <a:noFill/>
          <a:ln w="1651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1462" y="3776980"/>
            <a:ext cx="100584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核心问题</a:t>
            </a:r>
            <a:endParaRPr lang="en-US" sz="16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828800" y="3584575"/>
            <a:ext cx="9399270" cy="1002030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8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在不同环境光、不同视频内容、不同用户生理状态下，电视屏幕亮度该如何动态调整，才能让人眼感到舒适？</a:t>
            </a:r>
            <a:endParaRPr lang="en-US" sz="18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4881372"/>
            <a:ext cx="10561320" cy="713232"/>
          </a:xfrm>
          <a:prstGeom prst="rect">
            <a:avLst/>
          </a:prstGeom>
          <a:solidFill>
            <a:srgbClr val="F6FAFF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70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项目定位：从“环境光自动亮度”升级为“人眼生理感知驱动的舒适亮度控制”。</a:t>
            </a:r>
            <a:endParaRPr lang="en-US" sz="170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02</a:t>
            </a:r>
            <a:endParaRPr lang="en-US" sz="9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研究基础：物理亮度 ≠ 人眼感知亮度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35024"/>
            <a:ext cx="105156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同一个屏幕亮度，在暗室可能刺眼，在明亮环境可能偏暗。差异来自人眼的适应机制。</a:t>
            </a:r>
            <a:endParaRPr lang="en-US" sz="16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874520" cy="658368"/>
          </a:xfrm>
          <a:prstGeom prst="rect">
            <a:avLst/>
          </a:prstGeom>
          <a:solidFill>
            <a:srgbClr val="EEF6FF"/>
          </a:solidFill>
          <a:ln w="13970">
            <a:solidFill>
              <a:srgbClr val="CB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屏幕亮度 L</a:t>
            </a:r>
            <a:endParaRPr lang="en-US" sz="15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3291840" y="1965960"/>
            <a:ext cx="2148840" cy="658368"/>
          </a:xfrm>
          <a:prstGeom prst="rect">
            <a:avLst/>
          </a:prstGeom>
          <a:solidFill>
            <a:srgbClr val="F4FFFC"/>
          </a:solidFill>
          <a:ln w="13970">
            <a:solidFill>
              <a:srgbClr val="CD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环境光 / 周围亮度</a:t>
            </a:r>
            <a:endParaRPr lang="en-US" sz="1500" b="1" dirty="0">
              <a:solidFill>
                <a:srgbClr val="18B8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6080760" y="1965960"/>
            <a:ext cx="1874520" cy="658368"/>
          </a:xfrm>
          <a:prstGeom prst="rect">
            <a:avLst/>
          </a:prstGeom>
          <a:solidFill>
            <a:srgbClr val="FFF8EC"/>
          </a:solidFill>
          <a:ln w="13970">
            <a:solidFill>
              <a:srgbClr val="F7D99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瞳孔直径 D</a:t>
            </a:r>
            <a:endParaRPr lang="en-US" sz="15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8549640" y="1965960"/>
            <a:ext cx="2011680" cy="658368"/>
          </a:xfrm>
          <a:prstGeom prst="rect">
            <a:avLst/>
          </a:prstGeom>
          <a:solidFill>
            <a:srgbClr val="FFF5F5"/>
          </a:solidFill>
          <a:ln w="13970">
            <a:solidFill>
              <a:srgbClr val="F6C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主观亮暗感</a:t>
            </a:r>
            <a:endParaRPr lang="en-US" sz="1500" b="1" dirty="0">
              <a:solidFill>
                <a:srgbClr val="D94A4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97480" y="2295144"/>
            <a:ext cx="502920" cy="0"/>
          </a:xfrm>
          <a:prstGeom prst="line">
            <a:avLst/>
          </a:prstGeom>
          <a:noFill/>
          <a:ln w="1905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40680" y="2295144"/>
            <a:ext cx="548640" cy="0"/>
          </a:xfrm>
          <a:prstGeom prst="line">
            <a:avLst/>
          </a:prstGeom>
          <a:noFill/>
          <a:ln w="1905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955280" y="2295144"/>
            <a:ext cx="502920" cy="0"/>
          </a:xfrm>
          <a:prstGeom prst="line">
            <a:avLst/>
          </a:prstGeom>
          <a:noFill/>
          <a:ln w="1905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658368" y="3246120"/>
            <a:ext cx="5852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三种视觉状态决定了“亮度策略不能固定”</a:t>
            </a:r>
            <a:endParaRPr lang="en-US" sz="17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13232" y="3886200"/>
            <a:ext cx="1417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状态</a:t>
            </a:r>
            <a:endParaRPr lang="en-US" sz="1100" b="1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130552" y="3886200"/>
            <a:ext cx="1554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亮度范围</a:t>
            </a:r>
            <a:endParaRPr lang="en-US" sz="1100" b="1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85032" y="388620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细胞</a:t>
            </a:r>
            <a:endParaRPr lang="en-US" sz="1100" b="1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22392" y="388620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对电视亮度的启发</a:t>
            </a:r>
            <a:endParaRPr lang="en-US" sz="1100" b="1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3232" y="4297680"/>
            <a:ext cx="1417320" cy="384048"/>
          </a:xfrm>
          <a:prstGeom prst="rect">
            <a:avLst/>
          </a:prstGeom>
          <a:solidFill>
            <a:srgbClr val="F6FAFF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明视觉</a:t>
            </a:r>
            <a:endParaRPr lang="en-US" sz="125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130552" y="4297680"/>
            <a:ext cx="1554480" cy="384048"/>
          </a:xfrm>
          <a:prstGeom prst="rect">
            <a:avLst/>
          </a:prstGeom>
          <a:solidFill>
            <a:srgbClr val="F6FAFF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&gt; 3 cd/m²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85032" y="4297680"/>
            <a:ext cx="1737360" cy="384048"/>
          </a:xfrm>
          <a:prstGeom prst="rect">
            <a:avLst/>
          </a:prstGeom>
          <a:solidFill>
            <a:srgbClr val="F6FAFF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锥状细胞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422392" y="4297680"/>
            <a:ext cx="5669280" cy="384048"/>
          </a:xfrm>
          <a:prstGeom prst="rect">
            <a:avLst/>
          </a:prstGeom>
          <a:solidFill>
            <a:srgbClr val="F6FAFF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亮环境需要足够亮度，保证颜色和细节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13232" y="4809744"/>
            <a:ext cx="1417320" cy="384048"/>
          </a:xfrm>
          <a:prstGeom prst="rect">
            <a:avLst/>
          </a:prstGeom>
          <a:solidFill>
            <a:srgbClr val="F7FFFC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中间视觉</a:t>
            </a:r>
            <a:endParaRPr lang="en-US" sz="125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130552" y="4809744"/>
            <a:ext cx="1554480" cy="384048"/>
          </a:xfrm>
          <a:prstGeom prst="rect">
            <a:avLst/>
          </a:prstGeom>
          <a:solidFill>
            <a:srgbClr val="F7FFFC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10⁻²–10 cd/m²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3685032" y="4809744"/>
            <a:ext cx="1737360" cy="384048"/>
          </a:xfrm>
          <a:prstGeom prst="rect">
            <a:avLst/>
          </a:prstGeom>
          <a:solidFill>
            <a:srgbClr val="F7FFFC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杆状+锥状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422392" y="4809744"/>
            <a:ext cx="5669280" cy="384048"/>
          </a:xfrm>
          <a:prstGeom prst="rect">
            <a:avLst/>
          </a:prstGeom>
          <a:solidFill>
            <a:srgbClr val="F7FFFC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昏暗场景要兼顾舒适与清晰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3232" y="5321808"/>
            <a:ext cx="1417320" cy="384048"/>
          </a:xfrm>
          <a:prstGeom prst="rect">
            <a:avLst/>
          </a:prstGeom>
          <a:solidFill>
            <a:srgbClr val="FFF8F0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暗视觉</a:t>
            </a:r>
            <a:endParaRPr lang="en-US" sz="125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130552" y="5321808"/>
            <a:ext cx="1554480" cy="384048"/>
          </a:xfrm>
          <a:prstGeom prst="rect">
            <a:avLst/>
          </a:prstGeom>
          <a:solidFill>
            <a:srgbClr val="FFF8F0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10⁻⁶–10⁻² cd/m²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685032" y="5321808"/>
            <a:ext cx="1737360" cy="384048"/>
          </a:xfrm>
          <a:prstGeom prst="rect">
            <a:avLst/>
          </a:prstGeom>
          <a:solidFill>
            <a:srgbClr val="FFF8F0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杆状细胞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422392" y="5321808"/>
            <a:ext cx="5669280" cy="384048"/>
          </a:xfrm>
          <a:prstGeom prst="rect">
            <a:avLst/>
          </a:prstGeom>
          <a:solidFill>
            <a:srgbClr val="FFF8F0"/>
          </a:solidFill>
          <a:ln>
            <a:solidFill>
              <a:srgbClr val="E6EDF6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暗环境对光极敏感，过亮容易刺眼</a:t>
            </a:r>
            <a:endParaRPr lang="en-US" sz="11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03</a:t>
            </a:r>
            <a:endParaRPr lang="en-US" sz="9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核心机制：用“视网膜成像亮度 Lr”连接物理与感受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53312"/>
            <a:ext cx="256032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论文给出的关键公式</a:t>
            </a:r>
            <a:endParaRPr lang="en-US" sz="1500" b="1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429768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 = a × L × D²</a:t>
            </a:r>
            <a:endParaRPr lang="en-US" sz="36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786384" y="2816352"/>
            <a:ext cx="4023360" cy="1325880"/>
          </a:xfrm>
          <a:prstGeom prst="rect">
            <a:avLst/>
          </a:prstGeom>
          <a:noFill/>
        </p:spPr>
        <p:txBody>
          <a:bodyPr wrap="square" lIns="635" tIns="635" rIns="635" bIns="635" rtlCol="0" anchor="ctr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L：屏幕物理亮度</a:t>
            </a:r>
            <a:endParaRPr lang="en-US" sz="14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D：瞳孔直径</a:t>
            </a:r>
            <a:endParaRPr lang="en-US" sz="14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a：常数系数</a:t>
            </a:r>
            <a:endParaRPr lang="en-US" sz="14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Lr：视网膜层面的有效亮度刺激</a:t>
            </a:r>
            <a:endParaRPr lang="en-US" sz="14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486400" y="2286000"/>
            <a:ext cx="1125220" cy="635"/>
          </a:xfrm>
          <a:prstGeom prst="line">
            <a:avLst/>
          </a:prstGeom>
          <a:noFill/>
          <a:ln w="1778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7973568" y="2286000"/>
            <a:ext cx="877824" cy="0"/>
          </a:xfrm>
          <a:prstGeom prst="line">
            <a:avLst/>
          </a:prstGeom>
          <a:noFill/>
          <a:ln w="1778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919980" y="1874520"/>
            <a:ext cx="1143000" cy="822960"/>
          </a:xfrm>
          <a:prstGeom prst="rect">
            <a:avLst/>
          </a:prstGeom>
          <a:solidFill>
            <a:srgbClr val="F8FBFF"/>
          </a:solidFill>
          <a:ln w="13970">
            <a:solidFill>
              <a:srgbClr val="DDE9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环境光变化</a:t>
            </a:r>
            <a:endParaRPr lang="en-US" sz="13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11315" y="1874520"/>
            <a:ext cx="1325880" cy="822960"/>
          </a:xfrm>
          <a:prstGeom prst="rect">
            <a:avLst/>
          </a:prstGeom>
          <a:solidFill>
            <a:srgbClr val="FFF8EC"/>
          </a:solidFill>
          <a:ln w="13970">
            <a:solidFill>
              <a:srgbClr val="F7D99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瞳孔收缩 / 放大</a:t>
            </a:r>
            <a:endParaRPr lang="en-US" sz="13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006840" y="1874520"/>
            <a:ext cx="1691640" cy="822960"/>
          </a:xfrm>
          <a:prstGeom prst="rect">
            <a:avLst/>
          </a:prstGeom>
          <a:solidFill>
            <a:srgbClr val="EEF6FF"/>
          </a:solidFill>
          <a:ln w="13970">
            <a:solidFill>
              <a:srgbClr val="CB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视网膜刺激 Lr 变化</a:t>
            </a:r>
            <a:endParaRPr lang="en-US" sz="13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006840" y="3273552"/>
            <a:ext cx="1691640" cy="822960"/>
          </a:xfrm>
          <a:prstGeom prst="rect">
            <a:avLst/>
          </a:prstGeom>
          <a:solidFill>
            <a:srgbClr val="FFF5F5"/>
          </a:solidFill>
          <a:ln w="13970">
            <a:solidFill>
              <a:srgbClr val="F6C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感知亮 / 暗 / 刺眼</a:t>
            </a:r>
            <a:endParaRPr lang="en-US" sz="1300" b="1" dirty="0">
              <a:solidFill>
                <a:srgbClr val="D9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9857232" y="2748280"/>
            <a:ext cx="0" cy="475488"/>
          </a:xfrm>
          <a:prstGeom prst="line">
            <a:avLst/>
          </a:prstGeom>
          <a:noFill/>
          <a:ln w="1651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4772025" y="4663440"/>
            <a:ext cx="5972175" cy="960120"/>
          </a:xfrm>
          <a:prstGeom prst="rect">
            <a:avLst/>
          </a:prstGeom>
          <a:solidFill>
            <a:srgbClr val="F6FAFF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例子：暗室 D=6mm，屏幕 50cd/m²；明亮环境 D=2mm，屏幕 450cd/m²。</a:t>
            </a:r>
            <a:endParaRPr lang="en-US" sz="14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l">
              <a:buNone/>
            </a:pPr>
            <a:r>
              <a:rPr lang="en-US" sz="14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两者 L×D² 都约为 1800，人眼可能感到接近的亮度。</a:t>
            </a:r>
            <a:endParaRPr lang="en-US" sz="14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04</a:t>
            </a:r>
            <a:endParaRPr lang="en-US" sz="9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从“感知亮度”到“舒适亮度”：不是越亮越好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307592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舒适度与 Lr 更像一条倒 U 型曲线：太低看不清，太高会刺眼，中间存在最佳舒适区。</a:t>
            </a:r>
            <a:endParaRPr lang="en-US" sz="16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005840" y="5257800"/>
            <a:ext cx="8046720" cy="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005840" y="1965960"/>
            <a:ext cx="0" cy="3291840"/>
          </a:xfrm>
          <a:prstGeom prst="line">
            <a:avLst/>
          </a:prstGeom>
          <a:noFill/>
          <a:ln w="12700">
            <a:solidFill>
              <a:srgbClr val="667085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7498080" y="5486400"/>
            <a:ext cx="201168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视网膜成像亮度 Lr</a:t>
            </a:r>
            <a:endParaRPr lang="en-US" sz="10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舒适度</a:t>
            </a:r>
            <a:endParaRPr lang="en-US" sz="10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143000" y="4718304"/>
            <a:ext cx="548640" cy="265176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691640" y="4279392"/>
            <a:ext cx="548640" cy="438912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40280" y="3611880"/>
            <a:ext cx="548640" cy="667512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88920" y="2834640"/>
            <a:ext cx="548640" cy="777240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37560" y="2240280"/>
            <a:ext cx="548640" cy="594360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86200" y="2011680"/>
            <a:ext cx="548640" cy="228600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011680"/>
            <a:ext cx="548640" cy="228600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83480" y="2240280"/>
            <a:ext cx="548640" cy="594360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32120" y="2834640"/>
            <a:ext cx="548640" cy="777240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80760" y="3611880"/>
            <a:ext cx="548640" cy="667512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29400" y="4279392"/>
            <a:ext cx="548640" cy="438912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178040" y="4718304"/>
            <a:ext cx="548640" cy="265176"/>
          </a:xfrm>
          <a:prstGeom prst="line">
            <a:avLst/>
          </a:prstGeom>
          <a:noFill/>
          <a:ln w="38100">
            <a:solidFill>
              <a:srgbClr val="177DD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34840" y="1874520"/>
            <a:ext cx="0" cy="3401568"/>
          </a:xfrm>
          <a:prstGeom prst="line">
            <a:avLst/>
          </a:prstGeom>
          <a:noFill/>
          <a:ln w="2032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915400" y="1737360"/>
            <a:ext cx="1298448" cy="329184"/>
          </a:xfrm>
          <a:prstGeom prst="rect">
            <a:avLst/>
          </a:prstGeom>
          <a:solidFill>
            <a:srgbClr val="EEF6FF"/>
          </a:solidFill>
          <a:ln>
            <a:solidFill>
              <a:srgbClr val="CBE3FF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最佳舒适区</a:t>
            </a:r>
            <a:endParaRPr lang="en-US" sz="11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051560" y="3337560"/>
            <a:ext cx="1572768" cy="713232"/>
          </a:xfrm>
          <a:prstGeom prst="rect">
            <a:avLst/>
          </a:prstGeom>
          <a:solidFill>
            <a:srgbClr val="F6FAFF"/>
          </a:solidFill>
          <a:ln w="13970">
            <a:solidFill>
              <a:srgbClr val="DDE9F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太暗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暗部细节丢失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2788920" y="2212848"/>
            <a:ext cx="1609344" cy="713232"/>
          </a:xfrm>
          <a:prstGeom prst="rect">
            <a:avLst/>
          </a:prstGeom>
          <a:solidFill>
            <a:srgbClr val="F4FFFC"/>
          </a:solidFill>
          <a:ln w="13970">
            <a:solidFill>
              <a:srgbClr val="CD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合适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清晰 + 柔和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903720" y="3337560"/>
            <a:ext cx="1572768" cy="713232"/>
          </a:xfrm>
          <a:prstGeom prst="rect">
            <a:avLst/>
          </a:prstGeom>
          <a:solidFill>
            <a:srgbClr val="FFF5F5"/>
          </a:solidFill>
          <a:ln w="13970">
            <a:solidFill>
              <a:srgbClr val="F6C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太亮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刺眼 / 疲劳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915400" y="2130552"/>
            <a:ext cx="2468880" cy="1691640"/>
          </a:xfrm>
          <a:prstGeom prst="rect">
            <a:avLst/>
          </a:prstGeom>
          <a:solidFill>
            <a:srgbClr val="F8FBFF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产品启发：自动亮度的目标不是“把屏幕调</a:t>
            </a:r>
            <a:r>
              <a:rPr lang="zh-CN" altLang="en-US" sz="150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亮调</a:t>
            </a:r>
            <a:r>
              <a:rPr lang="en-US" sz="150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暗”，而是在不同环境与内容下，让 Lr 落在舒适区。</a:t>
            </a:r>
            <a:endParaRPr lang="en-US" sz="150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05</a:t>
            </a:r>
            <a:endParaRPr lang="en-US" sz="9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模型方案：动态舒适亮度感知模型 DCBM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16736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把家庭观看场景中的环境、内容、用户生理状态，统一转换成“舒适亮度控制参数”。</a:t>
            </a:r>
            <a:endParaRPr lang="en-US" sz="16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880360" y="3291840"/>
            <a:ext cx="777240" cy="0"/>
          </a:xfrm>
          <a:prstGeom prst="line">
            <a:avLst/>
          </a:prstGeom>
          <a:noFill/>
          <a:ln w="1778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6053328" y="3291840"/>
            <a:ext cx="786384" cy="0"/>
          </a:xfrm>
          <a:prstGeom prst="line">
            <a:avLst/>
          </a:prstGeom>
          <a:noFill/>
          <a:ln w="1778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9052560" y="3291840"/>
            <a:ext cx="777240" cy="0"/>
          </a:xfrm>
          <a:prstGeom prst="line">
            <a:avLst/>
          </a:prstGeom>
          <a:noFill/>
          <a:ln w="1778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731520" y="1901952"/>
            <a:ext cx="1920240" cy="493776"/>
          </a:xfrm>
          <a:prstGeom prst="rect">
            <a:avLst/>
          </a:prstGeom>
          <a:solidFill>
            <a:srgbClr val="EEF6FF"/>
          </a:solidFill>
          <a:ln w="13970">
            <a:solidFill>
              <a:srgbClr val="CB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输入层</a:t>
            </a:r>
            <a:endParaRPr lang="en-US" sz="14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2587752"/>
            <a:ext cx="2286000" cy="1508760"/>
          </a:xfrm>
          <a:prstGeom prst="rect">
            <a:avLst/>
          </a:prstGeom>
          <a:solidFill>
            <a:srgbClr val="F6FAFF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环境光 lx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周围亮度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APL / 峰值 / 高光面积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字幕亮度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观看时长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用户偏好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0" y="1901952"/>
            <a:ext cx="2103120" cy="493776"/>
          </a:xfrm>
          <a:prstGeom prst="rect">
            <a:avLst/>
          </a:prstGeom>
          <a:solidFill>
            <a:srgbClr val="FFF8EC"/>
          </a:solidFill>
          <a:ln w="13970">
            <a:solidFill>
              <a:srgbClr val="F7D99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生理层</a:t>
            </a:r>
            <a:endParaRPr lang="en-US" sz="14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56432" y="2587752"/>
            <a:ext cx="2560320" cy="1508760"/>
          </a:xfrm>
          <a:prstGeom prst="rect">
            <a:avLst/>
          </a:prstGeom>
          <a:solidFill>
            <a:srgbClr val="FFFBF2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估算 / 采集瞳孔直径 D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 Lr = a×L_eff×D²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判断是否进入舒适区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39712" y="1901952"/>
            <a:ext cx="1920240" cy="493776"/>
          </a:xfrm>
          <a:prstGeom prst="rect">
            <a:avLst/>
          </a:prstGeom>
          <a:solidFill>
            <a:srgbClr val="F4FFFC"/>
          </a:solidFill>
          <a:ln w="13970">
            <a:solidFill>
              <a:srgbClr val="CD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舒适评价层</a:t>
            </a:r>
            <a:endParaRPr lang="en-US" sz="1400" b="1" dirty="0">
              <a:solidFill>
                <a:srgbClr val="18B89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629400" y="2587752"/>
            <a:ext cx="2487168" cy="1508760"/>
          </a:xfrm>
          <a:prstGeom prst="rect">
            <a:avLst/>
          </a:prstGeom>
          <a:solidFill>
            <a:srgbClr val="F4FFFC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舒适度 C(Lr)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高光风险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字幕风险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亮度跳变风险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暗部可见性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838944" y="1901952"/>
            <a:ext cx="1828800" cy="493776"/>
          </a:xfrm>
          <a:prstGeom prst="rect">
            <a:avLst/>
          </a:prstGeom>
          <a:solidFill>
            <a:srgbClr val="FFF5F5"/>
          </a:solidFill>
          <a:ln w="13970">
            <a:solidFill>
              <a:srgbClr val="F6C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输出层</a:t>
            </a:r>
            <a:endParaRPr lang="en-US" sz="1400" b="1" dirty="0">
              <a:solidFill>
                <a:srgbClr val="D94A4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9582912" y="2587752"/>
            <a:ext cx="2148840" cy="1508760"/>
          </a:xfrm>
          <a:prstGeom prst="rect">
            <a:avLst/>
          </a:prstGeom>
          <a:solidFill>
            <a:srgbClr val="FFF8F8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背光 / OLED Light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Gamma / EOTF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高光压缩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字幕柔光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暗部提升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变化速度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5074920"/>
            <a:ext cx="1024128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关键变化：传统自动亮度看“房间有多亮”；DCBM 看“这束光进入用户眼睛后是否舒服”。</a:t>
            </a:r>
            <a:endParaRPr lang="en-US" sz="17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实验设计：先建模，再验证，再产品化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16736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按“四阶段”推进，既能支撑理论，也能验证产品价值。</a:t>
            </a:r>
            <a:endParaRPr lang="en-US" sz="16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697480" y="3017520"/>
            <a:ext cx="694944" cy="0"/>
          </a:xfrm>
          <a:prstGeom prst="line">
            <a:avLst/>
          </a:prstGeom>
          <a:noFill/>
          <a:ln w="1524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5532120" y="3017520"/>
            <a:ext cx="694944" cy="0"/>
          </a:xfrm>
          <a:prstGeom prst="line">
            <a:avLst/>
          </a:prstGeom>
          <a:noFill/>
          <a:ln w="1524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8366760" y="3017520"/>
            <a:ext cx="694944" cy="0"/>
          </a:xfrm>
          <a:prstGeom prst="line">
            <a:avLst/>
          </a:prstGeom>
          <a:noFill/>
          <a:ln w="15240">
            <a:solidFill>
              <a:srgbClr val="C9D5E5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685800" y="187452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01</a:t>
            </a:r>
            <a:endParaRPr lang="en-US" sz="18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0" y="2395728"/>
            <a:ext cx="2084832" cy="640080"/>
          </a:xfrm>
          <a:prstGeom prst="rect">
            <a:avLst/>
          </a:prstGeom>
          <a:solidFill>
            <a:srgbClr val="EEF6FF"/>
          </a:solidFill>
          <a:ln w="13970">
            <a:solidFill>
              <a:srgbClr val="CB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静态感知亮度</a:t>
            </a:r>
            <a:endParaRPr lang="en-US" sz="14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3291840"/>
            <a:ext cx="2084832" cy="1051560"/>
          </a:xfrm>
          <a:prstGeom prst="rect">
            <a:avLst/>
          </a:prstGeom>
          <a:solidFill>
            <a:srgbClr val="F9FBFE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环境光 × 屏幕亮度 × 瞳孔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 Lr 与感知亮度关系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520440" y="187452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02</a:t>
            </a:r>
            <a:endParaRPr lang="en-US" sz="18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20440" y="2395728"/>
            <a:ext cx="2084832" cy="640080"/>
          </a:xfrm>
          <a:prstGeom prst="rect">
            <a:avLst/>
          </a:prstGeom>
          <a:solidFill>
            <a:srgbClr val="FFF8EC"/>
          </a:solidFill>
          <a:ln w="13970">
            <a:solidFill>
              <a:srgbClr val="F7D99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舒适度函数</a:t>
            </a:r>
            <a:endParaRPr lang="en-US" sz="14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20440" y="3291840"/>
            <a:ext cx="2084832" cy="1051560"/>
          </a:xfrm>
          <a:prstGeom prst="rect">
            <a:avLst/>
          </a:prstGeom>
          <a:solidFill>
            <a:srgbClr val="F9FBFE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验证 Lr 与舒适度的倒 U 型关系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得到舒适区间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5080" y="187452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03</a:t>
            </a:r>
            <a:endParaRPr lang="en-US" sz="1800" b="1" dirty="0">
              <a:solidFill>
                <a:srgbClr val="18B89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5080" y="2395728"/>
            <a:ext cx="2084832" cy="640080"/>
          </a:xfrm>
          <a:prstGeom prst="rect">
            <a:avLst/>
          </a:prstGeom>
          <a:solidFill>
            <a:srgbClr val="F4FFFC"/>
          </a:solidFill>
          <a:ln w="13970">
            <a:solidFill>
              <a:srgbClr val="CD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动态视频实验</a:t>
            </a:r>
            <a:endParaRPr lang="en-US" sz="14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55080" y="3291840"/>
            <a:ext cx="2084832" cy="1051560"/>
          </a:xfrm>
          <a:prstGeom prst="rect">
            <a:avLst/>
          </a:prstGeom>
          <a:solidFill>
            <a:srgbClr val="F9FBFE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 APL、峰值、高光、字幕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建立真实电视内容模型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189720" y="1874520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04</a:t>
            </a:r>
            <a:endParaRPr lang="en-US" sz="1800" b="1" dirty="0">
              <a:solidFill>
                <a:srgbClr val="D94A4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189720" y="2395728"/>
            <a:ext cx="2084832" cy="640080"/>
          </a:xfrm>
          <a:prstGeom prst="rect">
            <a:avLst/>
          </a:prstGeom>
          <a:solidFill>
            <a:srgbClr val="FFF5F5"/>
          </a:solidFill>
          <a:ln w="13970">
            <a:solidFill>
              <a:srgbClr val="F6C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 产品验证</a:t>
            </a:r>
            <a:endParaRPr lang="en-US" sz="14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89720" y="3291840"/>
            <a:ext cx="2084832" cy="1051560"/>
          </a:xfrm>
          <a:prstGeom prst="rect">
            <a:avLst/>
          </a:prstGeom>
          <a:solidFill>
            <a:srgbClr val="F9FBFE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传统自动亮度 vs 动态舒适模型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118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看舒适度、刺眼、调节次数</a:t>
            </a:r>
            <a:endParaRPr lang="en-US" sz="118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5074920"/>
            <a:ext cx="10497820" cy="777240"/>
          </a:xfrm>
          <a:prstGeom prst="rect">
            <a:avLst/>
          </a:prstGeom>
          <a:solidFill>
            <a:srgbClr val="F6FAFF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MVP建议：30名被试；环境光 0/5/50/200 lx；内容覆盖暗场电影、HDR高光、新闻体育、暗背景字幕；采集瞳孔、舒适度、刺眼感和手动调节行为。</a:t>
            </a:r>
            <a:endParaRPr lang="en-US" sz="14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07</a:t>
            </a:r>
            <a:endParaRPr lang="en-US" sz="9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数据采集：用眼动仪把“主观舒适”变成可训练数据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pic>
        <p:nvPicPr>
          <p:cNvPr id="5" name="Image 0" descr="/mnt/data/111_upscal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2057400" cy="2743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4480560"/>
            <a:ext cx="2286000" cy="228600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借用设备实物图：头戴式眼动仪及线缆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3291840" y="1664208"/>
            <a:ext cx="1691640" cy="502920"/>
          </a:xfrm>
          <a:prstGeom prst="rect">
            <a:avLst/>
          </a:prstGeom>
          <a:solidFill>
            <a:srgbClr val="FFF8EC"/>
          </a:solidFill>
          <a:ln w="13970">
            <a:solidFill>
              <a:srgbClr val="F7D99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生理数据</a:t>
            </a:r>
            <a:endParaRPr lang="en-US" sz="14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" name="Text 5"/>
          <p:cNvSpPr/>
          <p:nvPr/>
        </p:nvSpPr>
        <p:spPr>
          <a:xfrm>
            <a:off x="3291840" y="2359025"/>
            <a:ext cx="1694815" cy="1325880"/>
          </a:xfrm>
          <a:prstGeom prst="rect">
            <a:avLst/>
          </a:prstGeom>
          <a:solidFill>
            <a:srgbClr val="FFFBF2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瞳孔直径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眨眼频率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注视点 / AOI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注视字幕与高光区域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6"/>
          <p:cNvSpPr/>
          <p:nvPr/>
        </p:nvSpPr>
        <p:spPr>
          <a:xfrm>
            <a:off x="5577840" y="1664208"/>
            <a:ext cx="1691640" cy="502920"/>
          </a:xfrm>
          <a:prstGeom prst="rect">
            <a:avLst/>
          </a:prstGeom>
          <a:solidFill>
            <a:srgbClr val="EEF6FF"/>
          </a:solidFill>
          <a:ln w="13970">
            <a:solidFill>
              <a:srgbClr val="CB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画面数据</a:t>
            </a:r>
            <a:endParaRPr lang="en-US" sz="14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577840" y="2359025"/>
            <a:ext cx="1688465" cy="1325880"/>
          </a:xfrm>
          <a:prstGeom prst="rect">
            <a:avLst/>
          </a:prstGeom>
          <a:solidFill>
            <a:srgbClr val="F6FAFF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APL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Peak / P95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高光面积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字幕亮度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亮度跳变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8"/>
          <p:cNvSpPr/>
          <p:nvPr/>
        </p:nvSpPr>
        <p:spPr>
          <a:xfrm>
            <a:off x="7863840" y="1664208"/>
            <a:ext cx="1691640" cy="502920"/>
          </a:xfrm>
          <a:prstGeom prst="rect">
            <a:avLst/>
          </a:prstGeom>
          <a:solidFill>
            <a:srgbClr val="F4FFFC"/>
          </a:solidFill>
          <a:ln w="13970">
            <a:solidFill>
              <a:srgbClr val="CD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环境数据</a:t>
            </a:r>
            <a:endParaRPr lang="en-US" sz="1400" b="1" dirty="0">
              <a:solidFill>
                <a:srgbClr val="18B89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863840" y="2359025"/>
            <a:ext cx="1684655" cy="1325880"/>
          </a:xfrm>
          <a:prstGeom prst="rect">
            <a:avLst/>
          </a:prstGeom>
          <a:solidFill>
            <a:srgbClr val="F4FFFC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环境照度 lx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墙面/周围亮度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观看距离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电视尺寸与模式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10149840" y="1664208"/>
            <a:ext cx="1691640" cy="502920"/>
          </a:xfrm>
          <a:prstGeom prst="rect">
            <a:avLst/>
          </a:prstGeom>
          <a:solidFill>
            <a:srgbClr val="FFF5F5"/>
          </a:solidFill>
          <a:ln w="13970">
            <a:solidFill>
              <a:srgbClr val="F6C7C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主观反馈</a:t>
            </a:r>
            <a:endParaRPr lang="en-US" sz="1400" b="1" dirty="0">
              <a:solidFill>
                <a:srgbClr val="D94A4A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149840" y="2359025"/>
            <a:ext cx="1678940" cy="1325880"/>
          </a:xfrm>
          <a:prstGeom prst="rect">
            <a:avLst/>
          </a:prstGeom>
          <a:solidFill>
            <a:srgbClr val="FFF8F8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亮度合适度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舒适度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刺眼感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暗部清晰度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继续观看意愿</a:t>
            </a:r>
            <a:endParaRPr lang="en-US" sz="125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3246120" y="4892040"/>
            <a:ext cx="80467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最终形成：按时间对齐的“环境—画面—瞳孔—主观评分”数据集。</a:t>
            </a:r>
            <a:endParaRPr lang="en-US" sz="17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08</a:t>
            </a:r>
            <a:endParaRPr lang="en-US" sz="9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50292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人眼舒适亮度模型项目汇报</a:t>
            </a:r>
            <a:endParaRPr lang="en-US" sz="85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80467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项目产出：从研究模型到电视亮度策略</a:t>
            </a:r>
            <a:endParaRPr lang="en-US" sz="25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11155680" cy="0"/>
          </a:xfrm>
          <a:prstGeom prst="line">
            <a:avLst/>
          </a:prstGeom>
          <a:noFill/>
          <a:ln w="9525">
            <a:solidFill>
              <a:srgbClr val="C9D5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16736"/>
            <a:ext cx="105156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预期交付不是一条固定亮度曲线，而是一套可持续迭代的舒适亮度系统。</a:t>
            </a:r>
            <a:endParaRPr lang="en-US" sz="16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68680" y="1874520"/>
            <a:ext cx="2743200" cy="530352"/>
          </a:xfrm>
          <a:prstGeom prst="rect">
            <a:avLst/>
          </a:prstGeom>
          <a:solidFill>
            <a:srgbClr val="EEF6FF"/>
          </a:solidFill>
          <a:ln w="13970">
            <a:solidFill>
              <a:srgbClr val="CBE3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舒适亮度数据库</a:t>
            </a:r>
            <a:endParaRPr lang="en-US" sz="14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606040"/>
            <a:ext cx="2651760" cy="713232"/>
          </a:xfrm>
          <a:prstGeom prst="rect">
            <a:avLst/>
          </a:prstGeom>
          <a:solidFill>
            <a:srgbClr val="F6FAFF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不同环境光、不同内容、不同人群下的瞳孔与舒适评分。</a:t>
            </a:r>
            <a:endParaRPr lang="en-US" sz="12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709160" y="1874520"/>
            <a:ext cx="2743200" cy="530352"/>
          </a:xfrm>
          <a:prstGeom prst="rect">
            <a:avLst/>
          </a:prstGeom>
          <a:solidFill>
            <a:srgbClr val="FFF8EC"/>
          </a:solidFill>
          <a:ln w="13970">
            <a:solidFill>
              <a:srgbClr val="F7D99D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瞳孔 / Lr 模型</a:t>
            </a:r>
            <a:endParaRPr lang="en-US" sz="14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4754880" y="2606040"/>
            <a:ext cx="2651760" cy="713232"/>
          </a:xfrm>
          <a:prstGeom prst="rect">
            <a:avLst/>
          </a:prstGeom>
          <a:solidFill>
            <a:srgbClr val="FFFBF2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在没有眼动仪时，基于环境光和内容估算视网膜成像亮度。</a:t>
            </a:r>
            <a:endParaRPr lang="en-US" sz="12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549640" y="1874520"/>
            <a:ext cx="2743200" cy="530352"/>
          </a:xfrm>
          <a:prstGeom prst="rect">
            <a:avLst/>
          </a:prstGeom>
          <a:solidFill>
            <a:srgbClr val="F4FFFC"/>
          </a:solidFill>
          <a:ln w="13970">
            <a:solidFill>
              <a:srgbClr val="CDEFE7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动态控制算法</a:t>
            </a:r>
            <a:endParaRPr lang="en-US" sz="1400" b="1" dirty="0">
              <a:solidFill>
                <a:srgbClr val="18B89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95360" y="2606040"/>
            <a:ext cx="2651760" cy="713232"/>
          </a:xfrm>
          <a:prstGeom prst="rect">
            <a:avLst/>
          </a:prstGeom>
          <a:solidFill>
            <a:srgbClr val="F4FFFC"/>
          </a:solidFill>
          <a:ln w="8890">
            <a:solidFill>
              <a:srgbClr val="DFE8F5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输出背光、Gamma、HDR高光压缩、字幕柔光、亮度变化速度。</a:t>
            </a:r>
            <a:endParaRPr lang="en-US" sz="1250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868680" y="4069080"/>
            <a:ext cx="1828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203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可落地场景</a:t>
            </a:r>
            <a:endParaRPr lang="en-US" sz="1600" b="1" dirty="0">
              <a:solidFill>
                <a:srgbClr val="16203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8680" y="4590288"/>
            <a:ext cx="1554480" cy="329184"/>
          </a:xfrm>
          <a:prstGeom prst="rect">
            <a:avLst/>
          </a:prstGeom>
          <a:solidFill>
            <a:srgbClr val="EEF6FF"/>
          </a:solidFill>
          <a:ln>
            <a:solidFill>
              <a:srgbClr val="CBE3FF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夜间舒适模式</a:t>
            </a:r>
            <a:endParaRPr lang="en-US" sz="11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834640" y="4590288"/>
            <a:ext cx="1234440" cy="329184"/>
          </a:xfrm>
          <a:prstGeom prst="rect">
            <a:avLst/>
          </a:prstGeom>
          <a:solidFill>
            <a:srgbClr val="EEF6FF"/>
          </a:solidFill>
          <a:ln>
            <a:solidFill>
              <a:srgbClr val="CBE3FF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A623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字幕柔光</a:t>
            </a:r>
            <a:endParaRPr lang="en-US" sz="1100" b="1" dirty="0">
              <a:solidFill>
                <a:srgbClr val="F5A623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80560" y="4590288"/>
            <a:ext cx="1600200" cy="329184"/>
          </a:xfrm>
          <a:prstGeom prst="rect">
            <a:avLst/>
          </a:prstGeom>
          <a:solidFill>
            <a:srgbClr val="EEF6FF"/>
          </a:solidFill>
          <a:ln>
            <a:solidFill>
              <a:srgbClr val="CBE3FF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4A4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HDR高光保护</a:t>
            </a:r>
            <a:endParaRPr lang="en-US" sz="1100" b="1" dirty="0">
              <a:solidFill>
                <a:srgbClr val="D94A4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92240" y="4590288"/>
            <a:ext cx="1600200" cy="329184"/>
          </a:xfrm>
          <a:prstGeom prst="rect">
            <a:avLst/>
          </a:prstGeom>
          <a:solidFill>
            <a:srgbClr val="EEF6FF"/>
          </a:solidFill>
          <a:ln>
            <a:solidFill>
              <a:srgbClr val="CBE3FF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8B89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长辈友好画质</a:t>
            </a:r>
            <a:endParaRPr lang="en-US" sz="1100" b="1" dirty="0">
              <a:solidFill>
                <a:srgbClr val="18B89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49640" y="4590288"/>
            <a:ext cx="1600200" cy="329184"/>
          </a:xfrm>
          <a:prstGeom prst="rect">
            <a:avLst/>
          </a:prstGeom>
          <a:solidFill>
            <a:srgbClr val="EEF6FF"/>
          </a:solidFill>
          <a:ln>
            <a:solidFill>
              <a:srgbClr val="CBE3FF">
                <a:alpha val="70000"/>
              </a:srgbClr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7DDC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用户偏好学习</a:t>
            </a:r>
            <a:endParaRPr lang="en-US" sz="1100" b="1" dirty="0">
              <a:solidFill>
                <a:srgbClr val="177DDC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228832" y="6455664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7085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09</a:t>
            </a:r>
            <a:endParaRPr lang="en-US" sz="900" dirty="0">
              <a:solidFill>
                <a:srgbClr val="667085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8580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推进计划与需要支持</a:t>
            </a:r>
            <a:endParaRPr lang="en-US" sz="28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325880"/>
            <a:ext cx="96012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8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建议先做 6–8 周 MVP，验证“动态舒适亮度模型”是否优于传统自动亮度。</a:t>
            </a:r>
            <a:endParaRPr lang="en-US" sz="1600" dirty="0">
              <a:solidFill>
                <a:srgbClr val="D8E8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 2"/>
          <p:cNvSpPr/>
          <p:nvPr/>
        </p:nvSpPr>
        <p:spPr>
          <a:xfrm>
            <a:off x="777240" y="2148840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第1–2周</a:t>
            </a:r>
            <a:endParaRPr lang="en-US" sz="1300" b="1" dirty="0">
              <a:solidFill>
                <a:srgbClr val="BD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 3"/>
          <p:cNvSpPr/>
          <p:nvPr/>
        </p:nvSpPr>
        <p:spPr>
          <a:xfrm>
            <a:off x="2057400" y="213055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设备熟悉与预实验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389120" y="2148840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8F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眼动仪调试、校准流程、实验片段准备</a:t>
            </a:r>
            <a:endParaRPr lang="en-US" sz="1250" dirty="0">
              <a:solidFill>
                <a:srgbClr val="D8E8F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77240" y="2898648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第3–4周</a:t>
            </a:r>
            <a:endParaRPr lang="en-US" sz="1300" b="1" dirty="0">
              <a:solidFill>
                <a:srgbClr val="BD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 6"/>
          <p:cNvSpPr/>
          <p:nvPr/>
        </p:nvSpPr>
        <p:spPr>
          <a:xfrm>
            <a:off x="2057400" y="288036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 + 视频实验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 7"/>
          <p:cNvSpPr/>
          <p:nvPr/>
        </p:nvSpPr>
        <p:spPr>
          <a:xfrm>
            <a:off x="4389120" y="2898648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8F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采集环境光、瞳孔、画面亮度与主观评分</a:t>
            </a:r>
            <a:endParaRPr lang="en-US" sz="1250" dirty="0">
              <a:solidFill>
                <a:srgbClr val="D8E8F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77240" y="3648456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第5–6周</a:t>
            </a:r>
            <a:endParaRPr lang="en-US" sz="1300" b="1" dirty="0">
              <a:solidFill>
                <a:srgbClr val="BD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57400" y="3630168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模型拟合与策略生成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3648456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8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 Lr 舒适区、字幕/高光风险项</a:t>
            </a:r>
            <a:endParaRPr lang="en-US" sz="1250" dirty="0">
              <a:solidFill>
                <a:srgbClr val="D8E8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77240" y="4398264"/>
            <a:ext cx="10972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DEB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第7–8周</a:t>
            </a:r>
            <a:endParaRPr lang="en-US" sz="1300" b="1" dirty="0">
              <a:solidFill>
                <a:srgbClr val="BDEB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057400" y="4379976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A/B 验证与汇报</a:t>
            </a:r>
            <a:endParaRPr lang="en-US" sz="1500" b="1" dirty="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389120" y="4398264"/>
            <a:ext cx="5852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8E8F8"/>
                </a:solidFill>
                <a:latin typeface="微软雅黑" panose="020B0503020204020204" charset="-122"/>
                <a:ea typeface="微软雅黑" panose="020B0503020204020204" charset="-122"/>
                <a:cs typeface="Noto Sans CJK SC" pitchFamily="34" charset="-120"/>
              </a:rPr>
              <a:t>对比传统自动亮度，形成产品建议</a:t>
            </a:r>
            <a:endParaRPr lang="en-US" sz="1250" dirty="0">
              <a:solidFill>
                <a:srgbClr val="D8E8F8"/>
              </a:solidFill>
              <a:latin typeface="微软雅黑" panose="020B0503020204020204" charset="-122"/>
              <a:ea typeface="微软雅黑" panose="020B0503020204020204" charset="-122"/>
              <a:cs typeface="Noto Sans CJK SC" pitchFamily="34" charset="-12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77240" y="5486400"/>
            <a:ext cx="10698480" cy="502920"/>
          </a:xfrm>
          <a:prstGeom prst="rect">
            <a:avLst/>
          </a:prstGeom>
          <a:solidFill>
            <a:srgbClr val="10233F"/>
          </a:solidFill>
          <a:ln w="8890">
            <a:solidFill>
              <a:srgbClr val="29516F"/>
            </a:solidFill>
          </a:ln>
        </p:spPr>
        <p:txBody>
          <a:bodyPr wrap="square" lIns="1524" tIns="1524" rIns="1524" bIns="1524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EAF4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需要支持：实验场地与设备确认、测试电视样机、被试招募、视频片段与亮度数据提取工具。</a:t>
            </a:r>
            <a:endParaRPr lang="en-US" sz="1400" dirty="0">
              <a:solidFill>
                <a:srgbClr val="EAF4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2037</Words>
  <Application>WPS 演示</Application>
  <PresentationFormat>On-screen Show (16:9)</PresentationFormat>
  <Paragraphs>317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微软雅黑</vt:lpstr>
      <vt:lpstr>Arial Unicode MS</vt:lpstr>
      <vt:lpstr>MingLiU-ExtB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人眼舒适亮度模型项目汇报</dc:title>
  <dc:creator>OpenAI</dc:creator>
  <dc:subject>人眼舒适亮度模型项目汇报</dc:subject>
  <cp:lastModifiedBy>mengyi</cp:lastModifiedBy>
  <cp:revision>5</cp:revision>
  <dcterms:created xsi:type="dcterms:W3CDTF">2026-06-22T06:29:00Z</dcterms:created>
  <dcterms:modified xsi:type="dcterms:W3CDTF">2026-06-22T07:40:51Z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EE26343FDA6341D1B9994F8F5BF08A39_13</vt:lpwstr>
  </property>
</Properties>
</file>